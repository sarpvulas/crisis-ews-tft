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Predicting Stock-Market Crashes</a:t>
            </a:r>
          </a:p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with a Temporal Fusion Transformer</a:t>
            </a:r>
          </a:p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9EC5E8"/>
                </a:solidFill>
                <a:latin typeface="Calibri"/>
              </a:rPr>
              <a:t>— and an honest test of what actually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Dense Drawdown Supervision for Equity Crisis Early Warning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9D6E5"/>
                </a:solidFill>
                <a:latin typeface="Calibri"/>
              </a:rPr>
              <a:t>Hüseyin Sarp Vulaş   ·   MSc Computational Finance   ·   King's College London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068"/>
                </a:solidFill>
                <a:latin typeface="Calibri"/>
              </a:rPr>
              <a:t>Supervisor: Dr Bart de Keijzer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WHAT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problem: an early-warning system for crashes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400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262B30"/>
                </a:solidFill>
                <a:latin typeface="Calibri"/>
              </a:rPr>
              <a:t>Bear markets are expensive: you're fully invested right at the top, and credit dries up exactly when you need it.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3A5F"/>
                </a:solidFill>
                <a:latin typeface="Calibri"/>
              </a:rPr>
              <a:t>Goal — one yes/no question, asked every day: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3B6EA5"/>
                </a:solidFill>
                <a:latin typeface="Calibri"/>
              </a:rPr>
              <a:t>"Will a crash begin within the next 3 months (63 trading days)?"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262B30"/>
                </a:solidFill>
                <a:latin typeface="Calibri"/>
              </a:rPr>
              <a:t>If you can see it coming, you can de-risk in time.</a:t>
            </a:r>
          </a:p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5A6068"/>
                </a:solidFill>
                <a:latin typeface="Calibri"/>
              </a:rPr>
              <a:t>This is a binary classification problem on time-series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554480"/>
            <a:ext cx="4480560" cy="201168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627632"/>
            <a:ext cx="4114800" cy="1865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It's a weather forecast for the market. We don't predict the exact rainfall — we raise a flag when storm clouds are gathering.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3840480"/>
            <a:ext cx="4480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Input → Output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In: 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252 days of market history (returns, volatility, VIX, credit spreads…)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Out: </a:t>
            </a:r>
            <a:r>
              <a:rPr sz="1500" b="0" i="0">
                <a:solidFill>
                  <a:srgbClr val="262B30"/>
                </a:solidFill>
                <a:latin typeface="Calibri"/>
              </a:rPr>
              <a:t>probability of a crash in the next 63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THE CORE DIFFICULTY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catch: real crashes are RARE</a:t>
            </a:r>
          </a:p>
        </p:txBody>
      </p:sp>
      <p:pic>
        <p:nvPicPr>
          <p:cNvPr id="6" name="Picture 5" descr="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680960" cy="3677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463040"/>
            <a:ext cx="35661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1F3A5F"/>
                </a:solidFill>
                <a:latin typeface="Calibri"/>
              </a:rPr>
              <a:t>26 years of the S&amp;P 500…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C0392B"/>
                </a:solidFill>
                <a:latin typeface="Calibri"/>
              </a:rPr>
              <a:t>…produce only ~5-6 distinct crises.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That is almost no examples to learn from.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A big neural network has millions of dials but only a handful of real lessons to tune them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285232"/>
            <a:ext cx="106984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Like training a smoke detector when your house has only caught fire 6 times in 26 years — you barely have enough fires to learn what smoke looks like.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Defining a "crisis": the dd10 rule</a:t>
            </a:r>
          </a:p>
        </p:txBody>
      </p:sp>
      <p:pic>
        <p:nvPicPr>
          <p:cNvPr id="6" name="Picture 5" descr="02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577840" cy="309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371600"/>
            <a:ext cx="5486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Drawdown = how far below the 1-year peak we are:</a:t>
            </a:r>
          </a:p>
          <a:p>
            <a:pPr algn="l">
              <a:spcAft>
                <a:spcPts val="1200"/>
              </a:spcAft>
            </a:pPr>
            <a:r>
              <a:rPr sz="2000" b="1" i="0">
                <a:solidFill>
                  <a:srgbClr val="3B6EA5"/>
                </a:solidFill>
                <a:latin typeface="Calibri"/>
              </a:rPr>
              <a:t>D</a:t>
            </a:r>
            <a:r>
              <a:rPr sz="1200" b="1" i="0">
                <a:solidFill>
                  <a:srgbClr val="3B6EA5"/>
                </a:solidFill>
                <a:latin typeface="Calibri"/>
              </a:rPr>
              <a:t>t</a:t>
            </a:r>
            <a:r>
              <a:rPr sz="2000" b="0" i="0">
                <a:solidFill>
                  <a:srgbClr val="262B30"/>
                </a:solidFill>
                <a:latin typeface="Calibri"/>
              </a:rPr>
              <a:t>  =  price</a:t>
            </a:r>
            <a:r>
              <a:rPr sz="2000" b="0" i="0">
                <a:solidFill>
                  <a:srgbClr val="262B30"/>
                </a:solidFill>
                <a:latin typeface="Calibri"/>
              </a:rPr>
              <a:t> / </a:t>
            </a:r>
            <a:r>
              <a:rPr sz="2000" b="0" i="0">
                <a:solidFill>
                  <a:srgbClr val="262B30"/>
                </a:solidFill>
                <a:latin typeface="Calibri"/>
              </a:rPr>
              <a:t>1-yr peak</a:t>
            </a:r>
            <a:r>
              <a:rPr sz="2000" b="0" i="0">
                <a:solidFill>
                  <a:srgbClr val="262B30"/>
                </a:solidFill>
                <a:latin typeface="Calibri"/>
              </a:rPr>
              <a:t>  −  1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Crisis = drawdown of 10% or more  →  </a:t>
            </a:r>
            <a:r>
              <a:rPr sz="1700" b="1" i="0">
                <a:solidFill>
                  <a:srgbClr val="C0392B"/>
                </a:solidFill>
                <a:latin typeface="Calibri"/>
              </a:rPr>
              <a:t>"dd10"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5486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Why 10%? Chosen from the data, not gut feeling.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5A6068"/>
                </a:solidFill>
                <a:latin typeface="Calibri"/>
              </a:rPr>
              <a:t>5% = just noise (happens 36% of days).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5A6068"/>
                </a:solidFill>
                <a:latin typeface="Calibri"/>
              </a:rPr>
              <a:t>20% = textbook-clean, but only ~5 events in 26 yrs — too few to test.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10% sits just above average: enough events (~11) to evaluate honestly.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5486400" cy="77724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71032"/>
            <a:ext cx="51206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Where you set the alarm's sensitivity: too low = beeps constantly; too high = never warns.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THE FORK IN THE ROAD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Two competing ideas to beat the data shortage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640080"/>
          </a:xfrm>
          <a:prstGeom prst="rect">
            <a:avLst/>
          </a:prstGeom>
          <a:solidFill>
            <a:srgbClr val="3B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5394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IDEA A — be smarter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3B6EA5"/>
                </a:solidFill>
                <a:latin typeface="Calibri"/>
              </a:rPr>
              <a:t>"Regime awareness"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B30"/>
                </a:solidFill>
                <a:latin typeface="Calibri"/>
              </a:rPr>
              <a:t>Teach the model to figure out on its own whether the market is calm, stressed, or in crisis — and behave differently in each mood.</a:t>
            </a:r>
          </a:p>
          <a:p>
            <a:pPr algn="l">
              <a:spcAft>
                <a:spcPts val="1000"/>
              </a:spcAft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5A6068"/>
                </a:solidFill>
                <a:latin typeface="Calibri"/>
              </a:rPr>
              <a:t>The intuition we started with.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9496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394960" cy="6400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53949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IDEA B — feed it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The "AF recipe"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B30"/>
                </a:solidFill>
                <a:latin typeface="Calibri"/>
              </a:rPr>
              <a:t>Don't change the brain. Give it an easier second homework task + a training trick that focuses on the hard cases.</a:t>
            </a:r>
          </a:p>
          <a:p>
            <a:pPr algn="l">
              <a:spcAft>
                <a:spcPts val="1000"/>
              </a:spcAft>
            </a:pPr>
            <a:r>
              <a:rPr sz="600" b="0" i="0">
                <a:solidFill>
                  <a:srgbClr val="262B30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500" b="0" i="1">
                <a:solidFill>
                  <a:srgbClr val="5A6068"/>
                </a:solidFill>
                <a:latin typeface="Calibri"/>
              </a:rPr>
              <a:t>The boring idea that actually worked.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Spoiler: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Idea A did nothing. Idea B helped. The thesis is honest about both.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backbone: Temporal Fusion Transformer (TFT)</a:t>
            </a:r>
          </a:p>
        </p:txBody>
      </p:sp>
      <p:pic>
        <p:nvPicPr>
          <p:cNvPr id="6" name="Picture 5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34202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Black = the standard TFT (Lim et al., 2021): picks useful inputs, an LSTM reads the sequence, attention links distant days.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Green = our contribution (the AF recipe).   Blue dashed = the regime idea we tested and rejected.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5A6068"/>
                </a:solidFill>
                <a:latin typeface="Calibri"/>
              </a:rPr>
              <a:t>We swapped the forecasting head for a sigmoid that outputs a crash probability.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WHAT WE TRIED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Idea A: Regime awareness  (the one that failed)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583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A built-in module tries to label each day as calm / stressed / crisis (a neural Hidden Markov Model).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62B30"/>
                </a:solidFill>
                <a:latin typeface="Calibri"/>
              </a:rPr>
              <a:t>It then nudges the model's attention based on that mood.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1F3A5F"/>
                </a:solidFill>
                <a:latin typeface="Calibri"/>
              </a:rPr>
              <a:t>Reasonable hypothesis: a model that 'knows' it's in a storm should read history differently.</a:t>
            </a:r>
          </a:p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Result: statistically identical to the plain model (0.460 vs 0.458). It added dials, not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554480"/>
            <a:ext cx="4297680" cy="237744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627632"/>
            <a:ext cx="3931920" cy="2231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Asking a student to guess the exam topic from the same few past papers they're already stuck on. Guessing the mood doesn't add new information — it recycles the scarce labels.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20624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Why more runs can't save it: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5A6068"/>
                </a:solidFill>
                <a:latin typeface="Calibri"/>
              </a:rPr>
              <a:t>Power is limited by the number of independent crises (~6), not by how many times we re-run.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OUR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Idea B: The AF recipe  (the one that worked)</a:t>
            </a:r>
          </a:p>
        </p:txBody>
      </p:sp>
      <p:pic>
        <p:nvPicPr>
          <p:cNvPr id="6" name="Picture 5" descr="07_f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0"/>
            <a:ext cx="5120640" cy="32146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37160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A = Auxiliary task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(extra homework)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262B30"/>
                </a:solidFill>
                <a:latin typeface="Calibri"/>
              </a:rPr>
              <a:t>Besides the rare yes/no crisis label, also predict </a:t>
            </a:r>
            <a:r>
              <a:rPr sz="1600" b="1" i="0">
                <a:solidFill>
                  <a:srgbClr val="3B6EA5"/>
                </a:solidFill>
                <a:latin typeface="Calibri"/>
              </a:rPr>
              <a:t>"how far will the market fall?"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 — a number available EVERY day, not just on rare crisis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6217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E8B57"/>
                </a:solidFill>
                <a:latin typeface="Calibri"/>
              </a:rPr>
              <a:t>F = Focal loss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(focus on hard cases)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2B30"/>
                </a:solidFill>
                <a:latin typeface="Calibri"/>
              </a:rPr>
              <a:t>L</a:t>
            </a:r>
            <a:r>
              <a:rPr sz="1100" b="1" i="0">
                <a:solidFill>
                  <a:srgbClr val="262B30"/>
                </a:solidFill>
                <a:latin typeface="Calibri"/>
              </a:rPr>
              <a:t>focal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 = −(1−p</a:t>
            </a:r>
            <a:r>
              <a:rPr sz="1100" b="0" i="0">
                <a:solidFill>
                  <a:srgbClr val="262B30"/>
                </a:solidFill>
                <a:latin typeface="Calibri"/>
              </a:rPr>
              <a:t>t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)</a:t>
            </a:r>
            <a:r>
              <a:rPr sz="1500" b="1" i="0">
                <a:solidFill>
                  <a:srgbClr val="C0392B"/>
                </a:solidFill>
                <a:latin typeface="Calibri"/>
              </a:rPr>
              <a:t>γ</a:t>
            </a:r>
            <a:r>
              <a:rPr sz="1700" b="0" i="0">
                <a:solidFill>
                  <a:srgbClr val="262B30"/>
                </a:solidFill>
                <a:latin typeface="Calibri"/>
              </a:rPr>
              <a:t> · log p</a:t>
            </a:r>
            <a:r>
              <a:rPr sz="1100" b="0" i="0">
                <a:solidFill>
                  <a:srgbClr val="262B30"/>
                </a:solidFill>
                <a:latin typeface="Calibri"/>
              </a:rPr>
              <a:t>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068"/>
                </a:solidFill>
                <a:latin typeface="Calibri"/>
              </a:rPr>
              <a:t>The (1−p</a:t>
            </a:r>
            <a:r>
              <a:rPr sz="900" b="0" i="0">
                <a:solidFill>
                  <a:srgbClr val="5A6068"/>
                </a:solidFill>
                <a:latin typeface="Calibri"/>
              </a:rPr>
              <a:t>t</a:t>
            </a:r>
            <a:r>
              <a:rPr sz="1400" b="0" i="0">
                <a:solidFill>
                  <a:srgbClr val="5A6068"/>
                </a:solidFill>
                <a:latin typeface="Calibri"/>
              </a:rPr>
              <a:t>)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γ</a:t>
            </a:r>
            <a:r>
              <a:rPr sz="1400" b="0" i="0">
                <a:solidFill>
                  <a:srgbClr val="5A6068"/>
                </a:solidFill>
                <a:latin typeface="Calibri"/>
              </a:rPr>
              <a:t> term shrinks the penalty for easy days, so the model concentrates on the rare, hard crises.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5943600" cy="146304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93792"/>
            <a:ext cx="5577840" cy="1316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Studying for the few hard questions instead of re-reading the easy ones you already ace — and getting denser practice from a related side-subject.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METHODOLOGY — THE REAL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Testing honestly: no peeking at the future</a:t>
            </a:r>
          </a:p>
        </p:txBody>
      </p:sp>
      <p:pic>
        <p:nvPicPr>
          <p:cNvPr id="6" name="Picture 5" descr="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583680" cy="31218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17320"/>
            <a:ext cx="4480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Walk-forward: train on the past, test on a LATER crisis — never the reverse.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63-day embargo: throw away the days right before each test so the model can't 'see' the answer.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Tuned the XGBoost baseline properly — no straw man.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68112"/>
            <a:ext cx="10698480" cy="950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It's a closed-book exam on next year's material. An earlier sloppy version let the model peek — and 'regime awareness' looked like a winner. Once we sealed the leaks, that win vanished. How you test can manufacture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HOW WE MEASURE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scorecards, in plain English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56616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566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B30"/>
                </a:solidFill>
                <a:latin typeface="Calibri"/>
              </a:rPr>
              <a:t>How well it ranks true crisis days above calm ones. Stays meaningful when crises are rare. Read it vs the 0.34 'random' floor.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Calibri"/>
              </a:rPr>
              <a:t>↑ higher = better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481328"/>
            <a:ext cx="3566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Brier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B30"/>
                </a:solidFill>
                <a:latin typeface="Calibri"/>
              </a:rPr>
              <a:t>Are the probabilities HONEST? If it says '30% chance', does a crash really happen ~30% of the time? (calibration)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Calibri"/>
              </a:rPr>
              <a:t>↓ lower = better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63040"/>
            <a:ext cx="3566160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481328"/>
            <a:ext cx="35661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Prevalence π ≈ 0.34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4884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62B30"/>
                </a:solidFill>
                <a:latin typeface="Calibri"/>
              </a:rPr>
              <a:t>The 'do-nothing' baseline. ~34% of test days are crisis days, so blind guessing scores ~0.34. Beat this = real skill.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977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= the floor to beat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54880"/>
            <a:ext cx="11155680" cy="137160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28032"/>
            <a:ext cx="10789920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PR-AUC = how well a doctor RANKS who is sick.  Brier = whether 'I'm 70% sure' is actually right 70% of the time.  A 0.48 PR-AUC against a 0.34 floor is genuine skill — not near-perfect, but real.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 1: Regime awareness is inert</a:t>
            </a:r>
          </a:p>
        </p:txBody>
      </p:sp>
      <p:pic>
        <p:nvPicPr>
          <p:cNvPr id="6" name="Picture 5" descr="04_head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06640" cy="3109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55448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Regime-aware (middle) ≈ plain model (left).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C0392B"/>
                </a:solidFill>
                <a:latin typeface="Calibri"/>
              </a:rPr>
              <a:t>0.460 vs 0.458 — a rounding error (p = 0.43).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The 'smart' idea added complexity but no skill.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E8B57"/>
                </a:solidFill>
                <a:latin typeface="Calibri"/>
              </a:rPr>
              <a:t>AF (green) is the one that pulls ahead — on both charts.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FINDINGS — THE MOST RELIABLE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 2: AF gives more HONEST probabilities</a:t>
            </a:r>
          </a:p>
        </p:txBody>
      </p:sp>
      <p:pic>
        <p:nvPicPr>
          <p:cNvPr id="6" name="Picture 5" descr="03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018787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75120" y="155448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Closer to the dashed line = more honest probabilities.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2E8B57"/>
                </a:solidFill>
                <a:latin typeface="Calibri"/>
              </a:rPr>
              <a:t>AF (green) hugs the diagonal better than vanilla (blue).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262B30"/>
                </a:solidFill>
                <a:latin typeface="Calibri"/>
              </a:rPr>
              <a:t>AF lowered the Brier score in ALL SIX crises — every time, not just on average.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700" b="0" i="0">
                <a:solidFill>
                  <a:srgbClr val="5A6068"/>
                </a:solidFill>
                <a:latin typeface="Calibri"/>
              </a:rPr>
              <a:t>For a tool that feeds real risk decisions, trustworthy probabilities matter more than a tiny ranking gain.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FINDINGS — BE HONEST ABOUT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Where AF helps: the severe crises</a:t>
            </a:r>
          </a:p>
        </p:txBody>
      </p:sp>
      <p:pic>
        <p:nvPicPr>
          <p:cNvPr id="6" name="Picture 5" descr="05_per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98079" cy="39140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55448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E8B57"/>
                </a:solidFill>
                <a:latin typeface="Calibri"/>
              </a:rPr>
              <a:t>Big wins in the violent crashes: COVID +0.16, China +0.04.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5A6068"/>
                </a:solidFill>
                <a:latin typeface="Calibri"/>
              </a:rPr>
              <a:t>Flat/slightly negative on the mild wobbles.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C0392B"/>
                </a:solidFill>
                <a:latin typeface="Calibri"/>
              </a:rPr>
              <a:t>With only 6 crises, this gain isn't statistically 'proven' (CI just touches zero).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262B30"/>
                </a:solidFill>
                <a:latin typeface="Calibri"/>
              </a:rPr>
              <a:t>So we claim a consistent improvement where it matters — not a proven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FINDINGS — THE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Result 3: scale up → it beats XGBoost</a:t>
            </a:r>
          </a:p>
        </p:txBody>
      </p:sp>
      <p:pic>
        <p:nvPicPr>
          <p:cNvPr id="6" name="Picture 5" descr="06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949440" cy="4082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554480"/>
            <a:ext cx="40233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62B30"/>
                </a:solidFill>
                <a:latin typeface="Calibri"/>
              </a:rPr>
              <a:t>Pool 9 markets → ~110 crisis onsets instead of ~6.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262B30"/>
                </a:solidFill>
                <a:latin typeface="Calibri"/>
              </a:rPr>
              <a:t>More examples let the deep model finally shine.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2E8B57"/>
                </a:solidFill>
                <a:latin typeface="Calibri"/>
              </a:rPr>
              <a:t>The tuned recipe (AFv2) edges XGBoost — the simple model the textbooks said you can't beat.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5A6068"/>
                </a:solidFill>
                <a:latin typeface="Calibri"/>
              </a:rPr>
              <a:t>Margins are small &amp; honest: 0.385 vs 0.373. Not a blowout, but a real, careful win.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THE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Why one idea failed and the other won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949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i="0">
                <a:solidFill>
                  <a:srgbClr val="C0392B"/>
                </a:solidFill>
                <a:latin typeface="Calibri"/>
              </a:rPr>
              <a:t>Regime module ✗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B30"/>
                </a:solidFill>
                <a:latin typeface="Calibri"/>
              </a:rPr>
              <a:t>Had to GUESS hidden moods from the same scarce labels that already bottleneck the task.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5A6068"/>
                </a:solidFill>
                <a:latin typeface="Calibri"/>
              </a:rPr>
              <a:t>→ added capacity, no new information.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3949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9377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Auxiliary head ✓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B30"/>
                </a:solidFill>
                <a:latin typeface="Calibri"/>
              </a:rPr>
              <a:t>Supplied a NEW, dense signal (drawdown is defined every single day).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5A6068"/>
                </a:solidFill>
                <a:latin typeface="Calibri"/>
              </a:rPr>
              <a:t>→ added information, exactly what a scarce-label problem needs.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F3A5F"/>
                </a:solidFill>
                <a:latin typeface="Calibri"/>
              </a:rPr>
              <a:t>When examples are scarce, feed the model more </a:t>
            </a:r>
            <a:r>
              <a:rPr sz="2200" b="1" i="0">
                <a:solidFill>
                  <a:srgbClr val="2E8B57"/>
                </a:solidFill>
                <a:latin typeface="Calibri"/>
              </a:rPr>
              <a:t>information</a:t>
            </a:r>
            <a:r>
              <a:rPr sz="2200" b="1" i="0">
                <a:solidFill>
                  <a:srgbClr val="1F3A5F"/>
                </a:solidFill>
                <a:latin typeface="Calibri"/>
              </a:rPr>
              <a:t> — not more </a:t>
            </a:r>
            <a:r>
              <a:rPr sz="2200" b="1" i="0">
                <a:solidFill>
                  <a:srgbClr val="C0392B"/>
                </a:solidFill>
                <a:latin typeface="Calibri"/>
              </a:rPr>
              <a:t>parameters</a:t>
            </a:r>
            <a:r>
              <a:rPr sz="2200" b="1" i="0">
                <a:solidFill>
                  <a:srgbClr val="1F3A5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EC5E8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262B30"/>
                </a:solidFill>
                <a:latin typeface="Calibri"/>
              </a:rPr>
              <a:t>Regime awareness — the clever idea — did NOT help. We report it honestly.</a:t>
            </a:r>
          </a:p>
          <a:p>
            <a:pPr algn="l">
              <a:spcAft>
                <a:spcPts val="18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262B30"/>
                </a:solidFill>
                <a:latin typeface="Calibri"/>
              </a:rPr>
              <a:t>The AF recipe (dense drawdown side-task + focal loss) gives better-calibrated warnings in every crisis, and bigger ranking gains in the severe ones.</a:t>
            </a:r>
          </a:p>
          <a:p>
            <a:pPr algn="l">
              <a:spcAft>
                <a:spcPts val="18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262B30"/>
                </a:solidFill>
                <a:latin typeface="Calibri"/>
              </a:rPr>
              <a:t>Scaled to 9 markets, the tuned recipe edges XGBoost and transfers back to the single market unchanged — one universal recipe.</a:t>
            </a:r>
          </a:p>
          <a:p>
            <a:pPr algn="l">
              <a:spcAft>
                <a:spcPts val="18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2E8B57"/>
                </a:solidFill>
                <a:latin typeface="Calibri"/>
              </a:rPr>
              <a:t>The biggest contribution is the honest, leak-free protocol: it's what makes the modest gains believable.</a:t>
            </a:r>
          </a:p>
          <a:p>
            <a:pPr algn="l">
              <a:spcAft>
                <a:spcPts val="1800"/>
              </a:spcAft>
            </a:pPr>
            <a:r>
              <a:rPr sz="1900" b="1" i="0">
                <a:solidFill>
                  <a:srgbClr val="2E8B57"/>
                </a:solidFill>
                <a:latin typeface="Calibri"/>
              </a:rPr>
              <a:t>•  </a:t>
            </a:r>
            <a:r>
              <a:rPr sz="1900" b="1" i="0">
                <a:solidFill>
                  <a:srgbClr val="1F3A5F"/>
                </a:solidFill>
                <a:latin typeface="Calibri"/>
              </a:rPr>
              <a:t>Lesson: in low-data problems, more signal beats more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69280"/>
            <a:ext cx="10972800" cy="868680"/>
          </a:xfrm>
          <a:prstGeom prst="rect">
            <a:avLst/>
          </a:prstGeom>
          <a:solidFill>
            <a:srgbClr val="ECEFF3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42432"/>
            <a:ext cx="1060704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🔑 Analogy:  </a:t>
            </a:r>
            <a:r>
              <a:rPr sz="1500" b="0" i="1">
                <a:solidFill>
                  <a:srgbClr val="5A6068"/>
                </a:solidFill>
                <a:latin typeface="Calibri"/>
              </a:rPr>
              <a:t>A careful referee matters as much as a clever player: the strict testing is what separated a real improvement from a plausible illusion.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606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9EC5E8"/>
                </a:solidFill>
                <a:latin typeface="Calibri"/>
              </a:rPr>
              <a:t>Questions?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C9D6E5"/>
                </a:solidFill>
                <a:latin typeface="Calibri"/>
              </a:rPr>
              <a:t>Hüseyin Sarp Vulaş  ·  MSc Computational Finance  ·  King's College London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