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a:t>
            </a:r>
          </a:p>
          <a:p>
            <a:r>
              <a:t>Good morning. My project builds an early-warning system for stock market crashes. Today I want to focus on one specific question my supervisor asked me, because answering it produced the strongest result in the whole project - and it also corrected something I had been getting wrong.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[0:30-1:20]</a:t>
            </a:r>
          </a:p>
          <a:p>
            <a:r>
              <a:t>The task is framed day by day: given the last year of market data, is a big drop coming within three months?</a:t>
            </a:r>
          </a:p>
          <a:p/>
          <a:p>
            <a:r>
              <a:t>The hard part isn't the modelling - it's that crises are rare. Over 26 years there are only a handful of real episodes. That means a lazy model that always says 'no crisis' looks excellent on accuracy. So everything downstream - the metric, the validation design - has to be built around rarity.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[1:20-2:10]</a:t>
            </a:r>
          </a:p>
          <a:p>
            <a:r>
              <a:t>The data is the S&amp;P 500 plus around twenty daily indicators - volatility, credit spreads, gold, the dollar - from 2000 to 2026.</a:t>
            </a:r>
          </a:p>
          <a:p/>
          <a:p>
            <a:r>
              <a:t>A day gets labelled as a warning if a drawdown of ten percent or more starts within the next three months. I chose ten percent rather than twenty after looking at the actual drawdown distribution: twenty percent leaves too few events to learn from at all.</a:t>
            </a:r>
          </a:p>
          <a:p/>
          <a:p>
            <a:r>
              <a:t>That gives six crisis episodes. Six. Remember that number, because it limits everything I can claim statistically.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[2:10-3:10]</a:t>
            </a:r>
          </a:p>
          <a:p>
            <a:r>
              <a:t>Three things make the evaluation honest.</a:t>
            </a:r>
          </a:p>
          <a:p/>
          <a:p>
            <a:r>
              <a:t>First, walk-forward: always train on the past and test on the next crisis.</a:t>
            </a:r>
          </a:p>
          <a:p/>
          <a:p>
            <a:r>
              <a:t>Second, an embargo. Because the label looks 63 days ahead, the final 63 days of training data would leak the answer - so they're deleted.</a:t>
            </a:r>
          </a:p>
          <a:p/>
          <a:p>
            <a:r>
              <a:t>Third, and most important: I treat the crisis episode as the unit of evidence, not the random seed. If I rerun the model thirty times on six crises, I don't have 180 independent observations - I still have six. That's a conservative choice, and it's why my original headline result came out non-significant.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[3:10-4:10]</a:t>
            </a:r>
          </a:p>
          <a:p>
            <a:r>
              <a:t>The backbone is a Temporal Fusion Transformer - an attention model designed for time series.</a:t>
            </a:r>
          </a:p>
          <a:p/>
          <a:p>
            <a:r>
              <a:t>On top of it sit two heads. The first is the classifier: it answers the yes/no question, and it's what produces the actual prediction.</a:t>
            </a:r>
          </a:p>
          <a:p/>
          <a:p>
            <a:r>
              <a:t>The second head is my contribution. It predicts how far the market will fall over the next 63 days. Crucially it is never used to make the forecast - it only shapes what the shared backbone learns.</a:t>
            </a:r>
          </a:p>
          <a:p/>
          <a:p>
            <a:r>
              <a:t>The intuition is simple. Crisis labels are rare and mostly zero. But 'how far did the market fall' is a number that exists every single day. So the second head keeps teaching the model even during quiet periods.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[4:10-5:00]</a:t>
            </a:r>
          </a:p>
          <a:p>
            <a:r>
              <a:t>My supervisor asked the obvious question: is the second head really doing the work, or could you just swap the classifier for a regressor?</a:t>
            </a:r>
          </a:p>
          <a:p/>
          <a:p>
            <a:r>
              <a:t>It was a fair challenge, because my original comparison couldn't answer it. It changed two things simultaneously - it added the second head AND switched the loss function. Either one could have been responsible. And I had never tested the regressor on its own.</a:t>
            </a:r>
          </a:p>
          <a:p/>
          <a:p>
            <a:r>
              <a:t>So I designed an experiment where exactly one thing varies: which heads exist.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[5:00-5:50]</a:t>
            </a:r>
          </a:p>
          <a:p>
            <a:r>
              <a:t>Three models. Classifier only - that's the control that was missing. Both heads - my contribution. And regressor only - the head swap.</a:t>
            </a:r>
          </a:p>
          <a:p/>
          <a:p>
            <a:r>
              <a:t>Everything else is identical: same backbone, same data, same loss function wherever a classifier exists, thirty random restarts, all six crises.</a:t>
            </a:r>
          </a:p>
          <a:p/>
          <a:p>
            <a:r>
              <a:t>One technical point I want to flag, because it's the kind of thing that can quietly fake a result. The regressor outputs a drawdown, not a probability, and the direction isn't obvious - a deep fall can mean danger ahead, or danger already passed. So I learned that direction from the training data rather than assuming it, and then re-scored every model backwards as a sanity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[5:50-6:45]</a:t>
            </a:r>
          </a:p>
          <a:p>
            <a:r>
              <a:t>This is the main result.</a:t>
            </a:r>
          </a:p>
          <a:p/>
          <a:p>
            <a:r>
              <a:t>Each bar is one crisis. The height is how much the second head improves the prediction, with the loss held fixed.</a:t>
            </a:r>
          </a:p>
          <a:p/>
          <a:p>
            <a:r>
              <a:t>Every bar is positive. It doesn't help on average, with some crises winning and others losing - it helps in all six. The largest gains are China-2015 and COVID, but even the smallest, Q4-2018, is still positive.</a:t>
            </a:r>
          </a:p>
          <a:p/>
          <a:p>
            <a:r>
              <a:t>That consistency is what makes the next slide possible.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[6:45-7:35]</a:t>
            </a:r>
          </a:p>
          <a:p>
            <a:r>
              <a:t>Six out of six is worth pausing on. With six episodes, six wins is literally the strongest signal a rank test can produce - the smallest p-value attainable at this sample size. It gives p equals 0.031.</a:t>
            </a:r>
          </a:p>
          <a:p/>
          <a:p>
            <a:r>
              <a:t>A bootstrap over crisis episodes puts the improvement between +0.013 and +0.060. That interval excludes zero.</a:t>
            </a:r>
          </a:p>
          <a:p/>
          <a:p>
            <a:r>
              <a:t>Compare that with my previous headline, where the interval was minus 0.007 to plus 0.086 - it straddled zero, so I couldn't claim an effect at all. Same conservative test, now a real result.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[7:35-8:20]</a:t>
            </a:r>
          </a:p>
          <a:p>
            <a:r>
              <a:t>This experiment also corrected something I had wrong.</a:t>
            </a:r>
          </a:p>
          <a:p/>
          <a:p>
            <a:r>
              <a:t>My recipe bundled the second head together with a change of loss function, and I had been crediting both. Tested separately, the loss function contributes nothing - minus 0.005, p equals 1.0. It's inert. It had looked promising in an early exploratory sweep and simply didn't survive proper testing.</a:t>
            </a:r>
          </a:p>
          <a:p/>
          <a:p>
            <a:r>
              <a:t>So the contribution is actually simpler than I was claiming: one idea, not two. That's a better position to defend, not a worse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[8:20-9:00]</a:t>
            </a:r>
          </a:p>
          <a:p>
            <a:r>
              <a:t>So could you just swap the heads, as my supervisor suggested might be possible?</a:t>
            </a:r>
          </a:p>
          <a:p/>
          <a:p>
            <a:r>
              <a:t>No. On its own the drawdown head scores 0.365 against a random-guessing baseline of 0.336 - barely better than chance.</a:t>
            </a:r>
          </a:p>
          <a:p/>
          <a:p>
            <a:r>
              <a:t>And I checked this properly. Scoring it in the opposite direction gives 0.42, still below every model that keeps a classifier. The better direction isn't even consistent from one crisis to the next. So the result isn't an artefact of my choice of sign - the drawdown signal is genuinely unreliable as a standalone classifier.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[9:00-9:40]</a:t>
            </a:r>
          </a:p>
          <a:p>
            <a:r>
              <a:t>This slide is the one I find most interesting, because it explains why the second head helps rather than just showing that it does.</a:t>
            </a:r>
          </a:p>
          <a:p/>
          <a:p>
            <a:r>
              <a:t>Blue is the classifier, green is the regressor, the red dashes are random guessing.</a:t>
            </a:r>
          </a:p>
          <a:p/>
          <a:p>
            <a:r>
              <a:t>Look at GFC and Q4-2018. The regressor wins there - and those are exactly the cases where the classifier falls below random guessing. In the GFC window the training data contains no positive crisis labels whatsoever, so the classifier has literally nothing to learn from. The drawdown target still exists.</a:t>
            </a:r>
          </a:p>
          <a:p/>
          <a:p>
            <a:r>
              <a:t>Then look at COVID and China-2015, where crisis labels are plentiful: the ordering flips completely and the classifier dominates.</a:t>
            </a:r>
          </a:p>
          <a:p/>
          <a:p>
            <a:r>
              <a:t>So dense supervision isn't a replacement. It's a complement that supplies signal exactly where the rare labels run out - which is why the two together beat either alone.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[9:40-10:00]</a:t>
            </a:r>
          </a:p>
          <a:p>
            <a:r>
              <a:t>To summarise.</a:t>
            </a:r>
          </a:p>
          <a:p/>
          <a:p>
            <a:r>
              <a:t>What I can claim: adding a dense drawdown head improves crisis prediction in all six crises, and improves the trustworthiness of the probabilities in all six as well. And I can explain the mechanism.</a:t>
            </a:r>
          </a:p>
          <a:p/>
          <a:p>
            <a:r>
              <a:t>What I won't overclaim: six crises is a small sample, and no amount of extra compute fixes that - only more crises would. Two of my six folds are weak tests because their training windows contain no positive labels. And the gain is modest.</a:t>
            </a:r>
          </a:p>
          <a:p/>
          <a:p>
            <a:r>
              <a:t>The one-line takeaway: when your labels are scarce, supervise the model with something that isn't.</a:t>
            </a:r>
          </a:p>
          <a:p/>
          <a:p>
            <a:r>
              <a:t>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56032" cy="685800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1417320"/>
            <a:ext cx="10058400" cy="36576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MSc COMPUTATIONAL FINANCE  ·  KING'S COLLEGE LONDON</a:t>
            </a:r>
          </a:p>
        </p:txBody>
      </p:sp>
      <p:sp>
        <p:nvSpPr>
          <p:cNvPr id="4" name="TextBox 3"/>
          <p:cNvSpPr txBox="1"/>
          <p:nvPr/>
        </p:nvSpPr>
        <p:spPr>
          <a:xfrm>
            <a:off x="1051560" y="1965960"/>
            <a:ext cx="10241280" cy="1828800"/>
          </a:xfrm>
          <a:prstGeom prst="rect">
            <a:avLst/>
          </a:prstGeom>
          <a:noFill/>
        </p:spPr>
        <p:txBody>
          <a:bodyPr wrap="square" lIns="0" rIns="0" tIns="0" bIns="0">
            <a:spAutoFit/>
          </a:bodyPr>
          <a:lstStyle/>
          <a:p>
            <a:pPr algn="l">
              <a:lnSpc>
                <a:spcPct val="112000"/>
              </a:lnSpc>
              <a:spcAft>
                <a:spcPts val="600"/>
              </a:spcAft>
            </a:pPr>
            <a:r>
              <a:rPr sz="4200" b="1">
                <a:solidFill>
                  <a:srgbClr val="14181F"/>
                </a:solidFill>
                <a:latin typeface="Segoe UI"/>
              </a:rPr>
              <a:t>Dense Drawdown Supervision
for Equity Crisis Early Warning</a:t>
            </a:r>
          </a:p>
        </p:txBody>
      </p:sp>
      <p:sp>
        <p:nvSpPr>
          <p:cNvPr id="5" name="Rectangle 4"/>
          <p:cNvSpPr/>
          <p:nvPr/>
        </p:nvSpPr>
        <p:spPr>
          <a:xfrm>
            <a:off x="1051560" y="3931920"/>
            <a:ext cx="1005840" cy="4572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297680"/>
            <a:ext cx="10058400" cy="109728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A multi-task Temporal Fusion Transformer, and an honest test of which part does the work</a:t>
            </a:r>
          </a:p>
        </p:txBody>
      </p:sp>
      <p:sp>
        <p:nvSpPr>
          <p:cNvPr id="7" name="TextBox 6"/>
          <p:cNvSpPr txBox="1"/>
          <p:nvPr/>
        </p:nvSpPr>
        <p:spPr>
          <a:xfrm>
            <a:off x="1051560" y="5394960"/>
            <a:ext cx="10058400" cy="822960"/>
          </a:xfrm>
          <a:prstGeom prst="rect">
            <a:avLst/>
          </a:prstGeom>
          <a:noFill/>
        </p:spPr>
        <p:txBody>
          <a:bodyPr wrap="square" lIns="0" rIns="0" tIns="0" bIns="0">
            <a:spAutoFit/>
          </a:bodyPr>
          <a:lstStyle/>
          <a:p>
            <a:pPr algn="l">
              <a:lnSpc>
                <a:spcPct val="125000"/>
              </a:lnSpc>
              <a:spcAft>
                <a:spcPts val="600"/>
              </a:spcAft>
            </a:pPr>
            <a:r>
              <a:rPr sz="1500" b="1">
                <a:solidFill>
                  <a:srgbClr val="14181F"/>
                </a:solidFill>
                <a:latin typeface="Segoe UI"/>
              </a:rPr>
              <a:t>Hüseyin Sarp Vulaş</a:t>
            </a:r>
          </a:p>
          <a:p>
            <a:pPr algn="l">
              <a:lnSpc>
                <a:spcPct val="125000"/>
              </a:lnSpc>
              <a:spcAft>
                <a:spcPts val="600"/>
              </a:spcAft>
            </a:pPr>
            <a:r>
              <a:rPr sz="1300" b="0">
                <a:solidFill>
                  <a:srgbClr val="5A6270"/>
                </a:solidFill>
                <a:latin typeface="Segoe UI"/>
              </a:rPr>
              <a:t>Supervisor: Dr Bart de Keijzer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01</a:t>
            </a:r>
            <a:r>
              <a:rPr sz="1150" b="1">
                <a:solidFill>
                  <a:srgbClr val="1B7837"/>
                </a:solidFill>
                <a:latin typeface="Segoe UI"/>
              </a:rPr>
              <a:t>   THE PROBLEM</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Predicting a crash before it happens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Oval 7"/>
          <p:cNvSpPr/>
          <p:nvPr/>
        </p:nvSpPr>
        <p:spPr>
          <a:xfrm>
            <a:off x="777240" y="202539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92024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task.  </a:t>
            </a:r>
            <a:r>
              <a:rPr sz="1700" b="0">
                <a:solidFill>
                  <a:srgbClr val="5A6270"/>
                </a:solidFill>
                <a:latin typeface="Segoe UI"/>
              </a:rPr>
              <a:t>Each day, look back a year of market data and answer: is a serious drop coming in the next three months?</a:t>
            </a:r>
          </a:p>
        </p:txBody>
      </p:sp>
      <p:sp>
        <p:nvSpPr>
          <p:cNvPr id="10" name="Oval 9"/>
          <p:cNvSpPr/>
          <p:nvPr/>
        </p:nvSpPr>
        <p:spPr>
          <a:xfrm>
            <a:off x="777240" y="289407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278892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Why it is hard.  </a:t>
            </a:r>
            <a:r>
              <a:rPr sz="1700" b="0">
                <a:solidFill>
                  <a:srgbClr val="5A6270"/>
                </a:solidFill>
                <a:latin typeface="Segoe UI"/>
              </a:rPr>
              <a:t>Crises are rare. In 26 years of S&amp;P 500 history there are only a handful of genuine episodes to learn from.</a:t>
            </a:r>
          </a:p>
        </p:txBody>
      </p:sp>
      <p:sp>
        <p:nvSpPr>
          <p:cNvPr id="12" name="Oval 11"/>
          <p:cNvSpPr/>
          <p:nvPr/>
        </p:nvSpPr>
        <p:spPr>
          <a:xfrm>
            <a:off x="777240" y="376275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65760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consequence.  </a:t>
            </a:r>
            <a:r>
              <a:rPr sz="1700" b="0">
                <a:solidFill>
                  <a:srgbClr val="5A6270"/>
                </a:solidFill>
                <a:latin typeface="Segoe UI"/>
              </a:rPr>
              <a:t>A model can score well by simply never crying wolf, so accuracy is meaningless here.</a:t>
            </a:r>
          </a:p>
        </p:txBody>
      </p:sp>
      <p:sp>
        <p:nvSpPr>
          <p:cNvPr id="14" name="Rectangle 13"/>
          <p:cNvSpPr/>
          <p:nvPr/>
        </p:nvSpPr>
        <p:spPr>
          <a:xfrm>
            <a:off x="777240" y="4800600"/>
            <a:ext cx="10607040" cy="114300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047488"/>
            <a:ext cx="9875520" cy="73152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central difficulty is not model capacity. It is that the thing we want to predict almost never happens.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02</a:t>
            </a:r>
            <a:r>
              <a:rPr sz="1150" b="1">
                <a:solidFill>
                  <a:srgbClr val="1B7837"/>
                </a:solidFill>
                <a:latin typeface="Segoe UI"/>
              </a:rPr>
              <a:t>   DATA AND LABELS</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What the model sees, and what it must predict</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2</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Oval 7"/>
          <p:cNvSpPr/>
          <p:nvPr/>
        </p:nvSpPr>
        <p:spPr>
          <a:xfrm>
            <a:off x="777240" y="202539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92024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Data.  </a:t>
            </a:r>
            <a:r>
              <a:rPr sz="1700" b="0">
                <a:solidFill>
                  <a:srgbClr val="5A6270"/>
                </a:solidFill>
                <a:latin typeface="Segoe UI"/>
              </a:rPr>
              <a:t>S&amp;P 500 plus 22 daily market indicators - volatility, credit spreads, gold, the dollar - from 2000 to 2026, via Bloomberg.</a:t>
            </a:r>
          </a:p>
        </p:txBody>
      </p:sp>
      <p:sp>
        <p:nvSpPr>
          <p:cNvPr id="10" name="Oval 9"/>
          <p:cNvSpPr/>
          <p:nvPr/>
        </p:nvSpPr>
        <p:spPr>
          <a:xfrm>
            <a:off x="777240" y="2866644"/>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2761488"/>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Label.  </a:t>
            </a:r>
            <a:r>
              <a:rPr sz="1700" b="0">
                <a:solidFill>
                  <a:srgbClr val="5A6270"/>
                </a:solidFill>
                <a:latin typeface="Segoe UI"/>
              </a:rPr>
              <a:t>A day is marked as a warning if a drawdown of 10% or more begins within the next 63 trading days.</a:t>
            </a:r>
          </a:p>
        </p:txBody>
      </p:sp>
      <p:sp>
        <p:nvSpPr>
          <p:cNvPr id="12" name="Oval 11"/>
          <p:cNvSpPr/>
          <p:nvPr/>
        </p:nvSpPr>
        <p:spPr>
          <a:xfrm>
            <a:off x="777240" y="3707892"/>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602736"/>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Episodes.  </a:t>
            </a:r>
            <a:r>
              <a:rPr sz="1700" b="0">
                <a:solidFill>
                  <a:srgbClr val="5A6270"/>
                </a:solidFill>
                <a:latin typeface="Segoe UI"/>
              </a:rPr>
              <a:t>Six crises: GFC, Eurozone, China-2015, Q4-2018, COVID and the 2022 bear market.</a:t>
            </a:r>
          </a:p>
        </p:txBody>
      </p:sp>
      <p:sp>
        <p:nvSpPr>
          <p:cNvPr id="14" name="Rectangle 13"/>
          <p:cNvSpPr/>
          <p:nvPr/>
        </p:nvSpPr>
        <p:spPr>
          <a:xfrm>
            <a:off x="7772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26 yrs</a:t>
            </a:r>
          </a:p>
        </p:txBody>
      </p:sp>
      <p:sp>
        <p:nvSpPr>
          <p:cNvPr id="16" name="TextBox 15"/>
          <p:cNvSpPr txBox="1"/>
          <p:nvPr/>
        </p:nvSpPr>
        <p:spPr>
          <a:xfrm>
            <a:off x="7772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of daily history</a:t>
            </a:r>
          </a:p>
        </p:txBody>
      </p:sp>
      <p:sp>
        <p:nvSpPr>
          <p:cNvPr id="17" name="Rectangle 16"/>
          <p:cNvSpPr/>
          <p:nvPr/>
        </p:nvSpPr>
        <p:spPr>
          <a:xfrm>
            <a:off x="35204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6</a:t>
            </a:r>
          </a:p>
        </p:txBody>
      </p:sp>
      <p:sp>
        <p:nvSpPr>
          <p:cNvPr id="19" name="TextBox 18"/>
          <p:cNvSpPr txBox="1"/>
          <p:nvPr/>
        </p:nvSpPr>
        <p:spPr>
          <a:xfrm>
            <a:off x="35204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crisis episodes</a:t>
            </a:r>
          </a:p>
        </p:txBody>
      </p:sp>
      <p:sp>
        <p:nvSpPr>
          <p:cNvPr id="20" name="Rectangle 19"/>
          <p:cNvSpPr/>
          <p:nvPr/>
        </p:nvSpPr>
        <p:spPr>
          <a:xfrm>
            <a:off x="62636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10%</a:t>
            </a:r>
          </a:p>
        </p:txBody>
      </p:sp>
      <p:sp>
        <p:nvSpPr>
          <p:cNvPr id="22" name="TextBox 21"/>
          <p:cNvSpPr txBox="1"/>
          <p:nvPr/>
        </p:nvSpPr>
        <p:spPr>
          <a:xfrm>
            <a:off x="62636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drawdown threshold</a:t>
            </a:r>
          </a:p>
        </p:txBody>
      </p:sp>
      <p:sp>
        <p:nvSpPr>
          <p:cNvPr id="23" name="Rectangle 22"/>
          <p:cNvSpPr/>
          <p:nvPr/>
        </p:nvSpPr>
        <p:spPr>
          <a:xfrm>
            <a:off x="9006840" y="4617720"/>
            <a:ext cx="251460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4800600"/>
            <a:ext cx="2514600" cy="548640"/>
          </a:xfrm>
          <a:prstGeom prst="rect">
            <a:avLst/>
          </a:prstGeom>
          <a:noFill/>
        </p:spPr>
        <p:txBody>
          <a:bodyPr wrap="square" lIns="0" rIns="0" tIns="0" bIns="0">
            <a:spAutoFit/>
          </a:bodyPr>
          <a:lstStyle/>
          <a:p>
            <a:pPr algn="ctr">
              <a:lnSpc>
                <a:spcPct val="125000"/>
              </a:lnSpc>
              <a:spcAft>
                <a:spcPts val="600"/>
              </a:spcAft>
            </a:pPr>
            <a:r>
              <a:rPr sz="3400" b="1">
                <a:solidFill>
                  <a:srgbClr val="1B7837"/>
                </a:solidFill>
                <a:latin typeface="Segoe UI"/>
              </a:rPr>
              <a:t>63 d</a:t>
            </a:r>
          </a:p>
        </p:txBody>
      </p:sp>
      <p:sp>
        <p:nvSpPr>
          <p:cNvPr id="25" name="TextBox 24"/>
          <p:cNvSpPr txBox="1"/>
          <p:nvPr/>
        </p:nvSpPr>
        <p:spPr>
          <a:xfrm>
            <a:off x="9006840" y="5404104"/>
            <a:ext cx="251460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warning horizon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03</a:t>
            </a:r>
            <a:r>
              <a:rPr sz="1150" b="1">
                <a:solidFill>
                  <a:srgbClr val="1B7837"/>
                </a:solidFill>
                <a:latin typeface="Segoe UI"/>
              </a:rPr>
              <a:t>   EVALUATION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Measuring it honestly</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3</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Oval 7"/>
          <p:cNvSpPr/>
          <p:nvPr/>
        </p:nvSpPr>
        <p:spPr>
          <a:xfrm>
            <a:off x="777240" y="202539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192024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Walk-forward testing.  </a:t>
            </a:r>
            <a:r>
              <a:rPr sz="1700" b="0">
                <a:solidFill>
                  <a:srgbClr val="5A6270"/>
                </a:solidFill>
                <a:latin typeface="Segoe UI"/>
              </a:rPr>
              <a:t>Train on the past, test on the next crisis. Never the reverse.</a:t>
            </a:r>
          </a:p>
        </p:txBody>
      </p:sp>
      <p:sp>
        <p:nvSpPr>
          <p:cNvPr id="10" name="Oval 9"/>
          <p:cNvSpPr/>
          <p:nvPr/>
        </p:nvSpPr>
        <p:spPr>
          <a:xfrm>
            <a:off x="777240" y="2866644"/>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2761488"/>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A 63-day embargo.  </a:t>
            </a:r>
            <a:r>
              <a:rPr sz="1700" b="0">
                <a:solidFill>
                  <a:srgbClr val="5A6270"/>
                </a:solidFill>
                <a:latin typeface="Segoe UI"/>
              </a:rPr>
              <a:t>Because labels look three months ahead, the last three months of training data are deleted - otherwise the model peeks.</a:t>
            </a:r>
          </a:p>
        </p:txBody>
      </p:sp>
      <p:sp>
        <p:nvSpPr>
          <p:cNvPr id="12" name="Oval 11"/>
          <p:cNvSpPr/>
          <p:nvPr/>
        </p:nvSpPr>
        <p:spPr>
          <a:xfrm>
            <a:off x="777240" y="3707892"/>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3602736"/>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PR-AUC, against the base rate.  </a:t>
            </a:r>
            <a:r>
              <a:rPr sz="1700" b="0">
                <a:solidFill>
                  <a:srgbClr val="5A6270"/>
                </a:solidFill>
                <a:latin typeface="Segoe UI"/>
              </a:rPr>
              <a:t>Compared with what random guessing would score, not against 50%.</a:t>
            </a:r>
          </a:p>
        </p:txBody>
      </p:sp>
      <p:sp>
        <p:nvSpPr>
          <p:cNvPr id="14" name="Oval 13"/>
          <p:cNvSpPr/>
          <p:nvPr/>
        </p:nvSpPr>
        <p:spPr>
          <a:xfrm>
            <a:off x="777240" y="454914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4443984"/>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unit of evidence is the crisis, not the random seed.  </a:t>
            </a:r>
            <a:r>
              <a:rPr sz="1700" b="0">
                <a:solidFill>
                  <a:srgbClr val="5A6270"/>
                </a:solidFill>
                <a:latin typeface="Segoe UI"/>
              </a:rPr>
              <a:t>Thirty reruns of six crises are still only six crises.</a:t>
            </a:r>
          </a:p>
        </p:txBody>
      </p:sp>
      <p:sp>
        <p:nvSpPr>
          <p:cNvPr id="16" name="Rectangle 15"/>
          <p:cNvSpPr/>
          <p:nvPr/>
        </p:nvSpPr>
        <p:spPr>
          <a:xfrm>
            <a:off x="777240" y="5394960"/>
            <a:ext cx="10607040" cy="7772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5577840"/>
            <a:ext cx="9875520" cy="457200"/>
          </a:xfrm>
          <a:prstGeom prst="rect">
            <a:avLst/>
          </a:prstGeom>
          <a:noFill/>
        </p:spPr>
        <p:txBody>
          <a:bodyPr wrap="square" lIns="0" rIns="0" tIns="0" bIns="0">
            <a:spAutoFit/>
          </a:bodyPr>
          <a:lstStyle/>
          <a:p>
            <a:pPr algn="l">
              <a:lnSpc>
                <a:spcPct val="125000"/>
              </a:lnSpc>
              <a:spcAft>
                <a:spcPts val="600"/>
              </a:spcAft>
            </a:pPr>
            <a:r>
              <a:rPr sz="1600" b="1">
                <a:solidFill>
                  <a:srgbClr val="14181F"/>
                </a:solidFill>
                <a:latin typeface="Segoe UI"/>
              </a:rPr>
              <a:t>This last point is why my earlier headline result was not statistically significant.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04</a:t>
            </a:r>
            <a:r>
              <a:rPr sz="1150" b="1">
                <a:solidFill>
                  <a:srgbClr val="1B7837"/>
                </a:solidFill>
                <a:latin typeface="Segoe UI"/>
              </a:rPr>
              <a:t>   THE MODEL</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One backbone, two output heads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4</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TextBox 7"/>
          <p:cNvSpPr txBox="1"/>
          <p:nvPr/>
        </p:nvSpPr>
        <p:spPr>
          <a:xfrm>
            <a:off x="777240" y="1828800"/>
            <a:ext cx="10607040"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A Temporal Fusion Transformer reads the market history. Two heads sit on top of it:</a:t>
            </a:r>
          </a:p>
        </p:txBody>
      </p:sp>
      <p:sp>
        <p:nvSpPr>
          <p:cNvPr id="9" name="Rectangle 8"/>
          <p:cNvSpPr/>
          <p:nvPr/>
        </p:nvSpPr>
        <p:spPr>
          <a:xfrm>
            <a:off x="777240" y="2514600"/>
            <a:ext cx="5029200" cy="182880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761488"/>
            <a:ext cx="4297680" cy="365760"/>
          </a:xfrm>
          <a:prstGeom prst="rect">
            <a:avLst/>
          </a:prstGeom>
          <a:noFill/>
        </p:spPr>
        <p:txBody>
          <a:bodyPr wrap="square" lIns="0" rIns="0" tIns="0" bIns="0">
            <a:spAutoFit/>
          </a:bodyPr>
          <a:lstStyle/>
          <a:p>
            <a:pPr algn="l">
              <a:lnSpc>
                <a:spcPct val="125000"/>
              </a:lnSpc>
              <a:spcAft>
                <a:spcPts val="600"/>
              </a:spcAft>
            </a:pPr>
            <a:r>
              <a:rPr sz="1200" b="1">
                <a:solidFill>
                  <a:srgbClr val="4575B4"/>
                </a:solidFill>
                <a:latin typeface="Segoe UI"/>
              </a:rPr>
              <a:t>HEAD 1  ·  CLASSIFIER</a:t>
            </a:r>
          </a:p>
        </p:txBody>
      </p:sp>
      <p:sp>
        <p:nvSpPr>
          <p:cNvPr id="11" name="TextBox 10"/>
          <p:cNvSpPr txBox="1"/>
          <p:nvPr/>
        </p:nvSpPr>
        <p:spPr>
          <a:xfrm>
            <a:off x="1143000" y="3127248"/>
            <a:ext cx="4297680" cy="1005840"/>
          </a:xfrm>
          <a:prstGeom prst="rect">
            <a:avLst/>
          </a:prstGeom>
          <a:noFill/>
        </p:spPr>
        <p:txBody>
          <a:bodyPr wrap="square" lIns="0" rIns="0" tIns="0" bIns="0">
            <a:spAutoFit/>
          </a:bodyPr>
          <a:lstStyle/>
          <a:p>
            <a:pPr algn="l">
              <a:lnSpc>
                <a:spcPct val="125000"/>
              </a:lnSpc>
              <a:spcAft>
                <a:spcPts val="600"/>
              </a:spcAft>
            </a:pPr>
            <a:r>
              <a:rPr sz="1650" b="0">
                <a:solidFill>
                  <a:srgbClr val="14181F"/>
                </a:solidFill>
                <a:latin typeface="Segoe UI"/>
              </a:rPr>
              <a:t>Answers the yes/no question directly:
“is a crash coming?”</a:t>
            </a:r>
          </a:p>
        </p:txBody>
      </p:sp>
      <p:sp>
        <p:nvSpPr>
          <p:cNvPr id="12" name="Rectangle 11"/>
          <p:cNvSpPr/>
          <p:nvPr/>
        </p:nvSpPr>
        <p:spPr>
          <a:xfrm>
            <a:off x="6355080" y="2514600"/>
            <a:ext cx="5029200" cy="182880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297680" cy="36576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HEAD 2  ·  DRAWDOWN REGRESSOR</a:t>
            </a:r>
          </a:p>
        </p:txBody>
      </p:sp>
      <p:sp>
        <p:nvSpPr>
          <p:cNvPr id="14" name="TextBox 13"/>
          <p:cNvSpPr txBox="1"/>
          <p:nvPr/>
        </p:nvSpPr>
        <p:spPr>
          <a:xfrm>
            <a:off x="6720840" y="3127248"/>
            <a:ext cx="4297680" cy="1005840"/>
          </a:xfrm>
          <a:prstGeom prst="rect">
            <a:avLst/>
          </a:prstGeom>
          <a:noFill/>
        </p:spPr>
        <p:txBody>
          <a:bodyPr wrap="square" lIns="0" rIns="0" tIns="0" bIns="0">
            <a:spAutoFit/>
          </a:bodyPr>
          <a:lstStyle/>
          <a:p>
            <a:pPr algn="l">
              <a:lnSpc>
                <a:spcPct val="125000"/>
              </a:lnSpc>
              <a:spcAft>
                <a:spcPts val="600"/>
              </a:spcAft>
            </a:pPr>
            <a:r>
              <a:rPr sz="1650" b="0">
                <a:solidFill>
                  <a:srgbClr val="14181F"/>
                </a:solidFill>
                <a:latin typeface="Segoe UI"/>
              </a:rPr>
              <a:t>Predicts how far the market falls
over the next 63 days.</a:t>
            </a:r>
          </a:p>
        </p:txBody>
      </p:sp>
      <p:sp>
        <p:nvSpPr>
          <p:cNvPr id="15" name="TextBox 14"/>
          <p:cNvSpPr txBox="1"/>
          <p:nvPr/>
        </p:nvSpPr>
        <p:spPr>
          <a:xfrm>
            <a:off x="777240" y="4709160"/>
            <a:ext cx="10607040" cy="1280160"/>
          </a:xfrm>
          <a:prstGeom prst="rect">
            <a:avLst/>
          </a:prstGeom>
          <a:noFill/>
        </p:spPr>
        <p:txBody>
          <a:bodyPr wrap="square" lIns="0" rIns="0" tIns="0" bIns="0">
            <a:spAutoFit/>
          </a:bodyPr>
          <a:lstStyle/>
          <a:p>
            <a:pPr algn="l">
              <a:lnSpc>
                <a:spcPct val="125000"/>
              </a:lnSpc>
              <a:spcAft>
                <a:spcPts val="600"/>
              </a:spcAft>
            </a:pPr>
            <a:r>
              <a:rPr sz="1800" b="1">
                <a:solidFill>
                  <a:srgbClr val="14181F"/>
                </a:solidFill>
                <a:latin typeface="Segoe UI"/>
              </a:rPr>
              <a:t>The second head is my contribution. </a:t>
            </a:r>
            <a:r>
              <a:rPr sz="1800" b="0">
                <a:solidFill>
                  <a:srgbClr val="5A6270"/>
                </a:solidFill>
                <a:latin typeface="Segoe UI"/>
              </a:rPr>
              <a:t>It is never used to make the prediction — it only shapes what the shared backbone learns. The intuition: crisis labels are rare, but “how far did the market fall” is a number that exists on every single trading 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05</a:t>
            </a:r>
            <a:r>
              <a:rPr sz="1150" b="1">
                <a:solidFill>
                  <a:srgbClr val="1B7837"/>
                </a:solidFill>
                <a:latin typeface="Segoe UI"/>
              </a:rPr>
              <a:t>   THE QUESTION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What my supervisor asked</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5</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Rectangle 7"/>
          <p:cNvSpPr/>
          <p:nvPr/>
        </p:nvSpPr>
        <p:spPr>
          <a:xfrm>
            <a:off x="777240" y="1874519"/>
            <a:ext cx="10607040" cy="1188720"/>
          </a:xfrm>
          <a:prstGeom prst="rect">
            <a:avLst/>
          </a:prstGeom>
          <a:solidFill>
            <a:srgbClr val="FFFFFF"/>
          </a:solidFill>
          <a:ln w="15240">
            <a:solidFill>
              <a:srgbClr val="E4E7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121408"/>
            <a:ext cx="9784080" cy="777240"/>
          </a:xfrm>
          <a:prstGeom prst="rect">
            <a:avLst/>
          </a:prstGeom>
          <a:noFill/>
        </p:spPr>
        <p:txBody>
          <a:bodyPr wrap="square" lIns="0" rIns="0" tIns="0" bIns="0">
            <a:spAutoFit/>
          </a:bodyPr>
          <a:lstStyle/>
          <a:p>
            <a:pPr algn="l">
              <a:lnSpc>
                <a:spcPct val="125000"/>
              </a:lnSpc>
              <a:spcAft>
                <a:spcPts val="600"/>
              </a:spcAft>
            </a:pPr>
            <a:r>
              <a:rPr sz="1900" b="1">
                <a:solidFill>
                  <a:srgbClr val="14181F"/>
                </a:solidFill>
                <a:latin typeface="Segoe UI"/>
              </a:rPr>
              <a:t>“Is the second head really doing the work — or would simply swapping the classifier for a regressor be enough?”</a:t>
            </a:r>
          </a:p>
        </p:txBody>
      </p:sp>
      <p:sp>
        <p:nvSpPr>
          <p:cNvPr id="10" name="TextBox 9"/>
          <p:cNvSpPr txBox="1"/>
          <p:nvPr/>
        </p:nvSpPr>
        <p:spPr>
          <a:xfrm>
            <a:off x="777240" y="3383280"/>
            <a:ext cx="10607040"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A fair question, because my original comparison could not answer it:</a:t>
            </a:r>
          </a:p>
        </p:txBody>
      </p:sp>
      <p:sp>
        <p:nvSpPr>
          <p:cNvPr id="11" name="Oval 10"/>
          <p:cNvSpPr/>
          <p:nvPr/>
        </p:nvSpPr>
        <p:spPr>
          <a:xfrm>
            <a:off x="777240" y="4082795"/>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3977639"/>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It changed two things at once.  </a:t>
            </a:r>
            <a:r>
              <a:rPr sz="1700" b="0">
                <a:solidFill>
                  <a:srgbClr val="5A6270"/>
                </a:solidFill>
                <a:latin typeface="Segoe UI"/>
              </a:rPr>
              <a:t>The winning recipe added the second head AND switched the loss function. Either could have been responsible.</a:t>
            </a:r>
          </a:p>
        </p:txBody>
      </p:sp>
      <p:sp>
        <p:nvSpPr>
          <p:cNvPr id="13" name="Oval 12"/>
          <p:cNvSpPr/>
          <p:nvPr/>
        </p:nvSpPr>
        <p:spPr>
          <a:xfrm>
            <a:off x="777240" y="4951475"/>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4846319"/>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It never tested the regressor alone.  </a:t>
            </a:r>
            <a:r>
              <a:rPr sz="1700" b="0">
                <a:solidFill>
                  <a:srgbClr val="5A6270"/>
                </a:solidFill>
                <a:latin typeface="Segoe UI"/>
              </a:rPr>
              <a:t>So “do we even need two heads?” had simply never been asked.</a:t>
            </a:r>
          </a:p>
        </p:txBody>
      </p:sp>
      <p:sp>
        <p:nvSpPr>
          <p:cNvPr id="15" name="Rectangle 14"/>
          <p:cNvSpPr/>
          <p:nvPr/>
        </p:nvSpPr>
        <p:spPr>
          <a:xfrm>
            <a:off x="777240" y="5532120"/>
            <a:ext cx="10607040" cy="658368"/>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687568"/>
            <a:ext cx="9875520" cy="365760"/>
          </a:xfrm>
          <a:prstGeom prst="rect">
            <a:avLst/>
          </a:prstGeom>
          <a:noFill/>
        </p:spPr>
        <p:txBody>
          <a:bodyPr wrap="square" lIns="0" rIns="0" tIns="0" bIns="0">
            <a:spAutoFit/>
          </a:bodyPr>
          <a:lstStyle/>
          <a:p>
            <a:pPr algn="l">
              <a:lnSpc>
                <a:spcPct val="125000"/>
              </a:lnSpc>
              <a:spcAft>
                <a:spcPts val="600"/>
              </a:spcAft>
            </a:pPr>
            <a:r>
              <a:rPr sz="1650" b="1">
                <a:solidFill>
                  <a:srgbClr val="14181F"/>
                </a:solidFill>
                <a:latin typeface="Segoe UI"/>
              </a:rPr>
              <a:t>So I ran an experiment where exactly one thing changes: which heads exist.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06</a:t>
            </a:r>
            <a:r>
              <a:rPr sz="1150" b="1">
                <a:solidFill>
                  <a:srgbClr val="1B7837"/>
                </a:solidFill>
                <a:latin typeface="Segoe UI"/>
              </a:rPr>
              <a:t>   THE EXPERIMENT</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Three models, one difference</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6</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Rectangle 7"/>
          <p:cNvSpPr/>
          <p:nvPr/>
        </p:nvSpPr>
        <p:spPr>
          <a:xfrm>
            <a:off x="777240" y="1965960"/>
            <a:ext cx="3291840" cy="173736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304288"/>
            <a:ext cx="3291840" cy="457200"/>
          </a:xfrm>
          <a:prstGeom prst="rect">
            <a:avLst/>
          </a:prstGeom>
          <a:noFill/>
        </p:spPr>
        <p:txBody>
          <a:bodyPr wrap="square" lIns="0" rIns="0" tIns="0" bIns="0">
            <a:spAutoFit/>
          </a:bodyPr>
          <a:lstStyle/>
          <a:p>
            <a:pPr algn="ctr">
              <a:lnSpc>
                <a:spcPct val="125000"/>
              </a:lnSpc>
              <a:spcAft>
                <a:spcPts val="600"/>
              </a:spcAft>
            </a:pPr>
            <a:r>
              <a:rPr sz="2000" b="1">
                <a:solidFill>
                  <a:srgbClr val="4575B4"/>
                </a:solidFill>
                <a:latin typeface="Segoe UI"/>
              </a:rPr>
              <a:t>Classifier only</a:t>
            </a:r>
          </a:p>
        </p:txBody>
      </p:sp>
      <p:sp>
        <p:nvSpPr>
          <p:cNvPr id="10" name="TextBox 9"/>
          <p:cNvSpPr txBox="1"/>
          <p:nvPr/>
        </p:nvSpPr>
        <p:spPr>
          <a:xfrm>
            <a:off x="777240" y="2834640"/>
            <a:ext cx="3291840" cy="365760"/>
          </a:xfrm>
          <a:prstGeom prst="rect">
            <a:avLst/>
          </a:prstGeom>
          <a:noFill/>
        </p:spPr>
        <p:txBody>
          <a:bodyPr wrap="square" lIns="0" rIns="0" tIns="0" bIns="0">
            <a:spAutoFit/>
          </a:bodyPr>
          <a:lstStyle/>
          <a:p>
            <a:pPr algn="ctr">
              <a:lnSpc>
                <a:spcPct val="125000"/>
              </a:lnSpc>
              <a:spcAft>
                <a:spcPts val="600"/>
              </a:spcAft>
            </a:pPr>
            <a:r>
              <a:rPr sz="1300" b="0">
                <a:solidFill>
                  <a:srgbClr val="5A6270"/>
                </a:solidFill>
                <a:latin typeface="Segoe UI"/>
              </a:rPr>
              <a:t>the control</a:t>
            </a:r>
          </a:p>
        </p:txBody>
      </p:sp>
      <p:sp>
        <p:nvSpPr>
          <p:cNvPr id="11" name="Rectangle 10"/>
          <p:cNvSpPr/>
          <p:nvPr/>
        </p:nvSpPr>
        <p:spPr>
          <a:xfrm>
            <a:off x="4389120" y="1965960"/>
            <a:ext cx="3291840" cy="173736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304288"/>
            <a:ext cx="3291840" cy="457200"/>
          </a:xfrm>
          <a:prstGeom prst="rect">
            <a:avLst/>
          </a:prstGeom>
          <a:noFill/>
        </p:spPr>
        <p:txBody>
          <a:bodyPr wrap="square" lIns="0" rIns="0" tIns="0" bIns="0">
            <a:spAutoFit/>
          </a:bodyPr>
          <a:lstStyle/>
          <a:p>
            <a:pPr algn="ctr">
              <a:lnSpc>
                <a:spcPct val="125000"/>
              </a:lnSpc>
              <a:spcAft>
                <a:spcPts val="600"/>
              </a:spcAft>
            </a:pPr>
            <a:r>
              <a:rPr sz="2000" b="1">
                <a:solidFill>
                  <a:srgbClr val="1B7837"/>
                </a:solidFill>
                <a:latin typeface="Segoe UI"/>
              </a:rPr>
              <a:t>Both heads</a:t>
            </a:r>
          </a:p>
        </p:txBody>
      </p:sp>
      <p:sp>
        <p:nvSpPr>
          <p:cNvPr id="13" name="TextBox 12"/>
          <p:cNvSpPr txBox="1"/>
          <p:nvPr/>
        </p:nvSpPr>
        <p:spPr>
          <a:xfrm>
            <a:off x="4389120" y="2834640"/>
            <a:ext cx="3291840" cy="365760"/>
          </a:xfrm>
          <a:prstGeom prst="rect">
            <a:avLst/>
          </a:prstGeom>
          <a:noFill/>
        </p:spPr>
        <p:txBody>
          <a:bodyPr wrap="square" lIns="0" rIns="0" tIns="0" bIns="0">
            <a:spAutoFit/>
          </a:bodyPr>
          <a:lstStyle/>
          <a:p>
            <a:pPr algn="ctr">
              <a:lnSpc>
                <a:spcPct val="125000"/>
              </a:lnSpc>
              <a:spcAft>
                <a:spcPts val="600"/>
              </a:spcAft>
            </a:pPr>
            <a:r>
              <a:rPr sz="1300" b="0">
                <a:solidFill>
                  <a:srgbClr val="5A6270"/>
                </a:solidFill>
                <a:latin typeface="Segoe UI"/>
              </a:rPr>
              <a:t>my contribution</a:t>
            </a:r>
          </a:p>
        </p:txBody>
      </p:sp>
      <p:sp>
        <p:nvSpPr>
          <p:cNvPr id="14" name="Rectangle 13"/>
          <p:cNvSpPr/>
          <p:nvPr/>
        </p:nvSpPr>
        <p:spPr>
          <a:xfrm>
            <a:off x="8001000" y="1965960"/>
            <a:ext cx="3291840" cy="173736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304288"/>
            <a:ext cx="3291840" cy="457200"/>
          </a:xfrm>
          <a:prstGeom prst="rect">
            <a:avLst/>
          </a:prstGeom>
          <a:noFill/>
        </p:spPr>
        <p:txBody>
          <a:bodyPr wrap="square" lIns="0" rIns="0" tIns="0" bIns="0">
            <a:spAutoFit/>
          </a:bodyPr>
          <a:lstStyle/>
          <a:p>
            <a:pPr algn="ctr">
              <a:lnSpc>
                <a:spcPct val="125000"/>
              </a:lnSpc>
              <a:spcAft>
                <a:spcPts val="600"/>
              </a:spcAft>
            </a:pPr>
            <a:r>
              <a:rPr sz="2000" b="1">
                <a:solidFill>
                  <a:srgbClr val="8A919C"/>
                </a:solidFill>
                <a:latin typeface="Segoe UI"/>
              </a:rPr>
              <a:t>Regressor only</a:t>
            </a:r>
          </a:p>
        </p:txBody>
      </p:sp>
      <p:sp>
        <p:nvSpPr>
          <p:cNvPr id="16" name="TextBox 15"/>
          <p:cNvSpPr txBox="1"/>
          <p:nvPr/>
        </p:nvSpPr>
        <p:spPr>
          <a:xfrm>
            <a:off x="8001000" y="2834640"/>
            <a:ext cx="3291840" cy="365760"/>
          </a:xfrm>
          <a:prstGeom prst="rect">
            <a:avLst/>
          </a:prstGeom>
          <a:noFill/>
        </p:spPr>
        <p:txBody>
          <a:bodyPr wrap="square" lIns="0" rIns="0" tIns="0" bIns="0">
            <a:spAutoFit/>
          </a:bodyPr>
          <a:lstStyle/>
          <a:p>
            <a:pPr algn="ctr">
              <a:lnSpc>
                <a:spcPct val="125000"/>
              </a:lnSpc>
              <a:spcAft>
                <a:spcPts val="600"/>
              </a:spcAft>
            </a:pPr>
            <a:r>
              <a:rPr sz="1300" b="0">
                <a:solidFill>
                  <a:srgbClr val="5A6270"/>
                </a:solidFill>
                <a:latin typeface="Segoe UI"/>
              </a:rPr>
              <a:t>the swap</a:t>
            </a:r>
          </a:p>
        </p:txBody>
      </p:sp>
      <p:sp>
        <p:nvSpPr>
          <p:cNvPr id="17" name="Oval 16"/>
          <p:cNvSpPr/>
          <p:nvPr/>
        </p:nvSpPr>
        <p:spPr>
          <a:xfrm>
            <a:off x="777240" y="41742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40690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Everything else is held fixed.  </a:t>
            </a:r>
            <a:r>
              <a:rPr sz="1700" b="0">
                <a:solidFill>
                  <a:srgbClr val="5A6270"/>
                </a:solidFill>
                <a:latin typeface="Segoe UI"/>
              </a:rPr>
              <a:t>Same backbone, same data, same loss function wherever a classifier exists, 30 random restarts, all six crises.</a:t>
            </a:r>
          </a:p>
        </p:txBody>
      </p:sp>
      <p:sp>
        <p:nvSpPr>
          <p:cNvPr id="19" name="Oval 18"/>
          <p:cNvSpPr/>
          <p:nvPr/>
        </p:nvSpPr>
        <p:spPr>
          <a:xfrm>
            <a:off x="777240" y="513435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502920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regressor is given every chance.  </a:t>
            </a:r>
            <a:r>
              <a:rPr sz="1700" b="0">
                <a:solidFill>
                  <a:srgbClr val="5A6270"/>
                </a:solidFill>
                <a:latin typeface="Segoe UI"/>
              </a:rPr>
              <a:t>Its output has no natural direction, so the mapping to a probability is learned from training data — and I re-scored every model under the opposite sign as a check.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07</a:t>
            </a:r>
            <a:r>
              <a:rPr sz="1150" b="1">
                <a:solidFill>
                  <a:srgbClr val="1B7837"/>
                </a:solidFill>
                <a:latin typeface="Segoe UI"/>
              </a:rPr>
              <a:t>   RESULT</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The second head helps in every crisis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7</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pic>
        <p:nvPicPr>
          <p:cNvPr id="8" name="Picture 7" descr="chart_perfold.png"/>
          <p:cNvPicPr>
            <a:picLocks noChangeAspect="1"/>
          </p:cNvPicPr>
          <p:nvPr/>
        </p:nvPicPr>
        <p:blipFill>
          <a:blip r:embed="rId2"/>
          <a:stretch>
            <a:fillRect/>
          </a:stretch>
        </p:blipFill>
        <p:spPr>
          <a:xfrm>
            <a:off x="1749711" y="1783080"/>
            <a:ext cx="8692272" cy="3566160"/>
          </a:xfrm>
          <a:prstGeom prst="rect">
            <a:avLst/>
          </a:prstGeom>
        </p:spPr>
      </p:pic>
      <p:sp>
        <p:nvSpPr>
          <p:cNvPr id="9" name="TextBox 8"/>
          <p:cNvSpPr txBox="1"/>
          <p:nvPr/>
        </p:nvSpPr>
        <p:spPr>
          <a:xfrm>
            <a:off x="777240" y="5532120"/>
            <a:ext cx="10607040" cy="64008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Adding the drawdown head - with the loss held fixed - improves the model in all six crises. Not on average. In every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08</a:t>
            </a:r>
            <a:r>
              <a:rPr sz="1150" b="1">
                <a:solidFill>
                  <a:srgbClr val="1B7837"/>
                </a:solidFill>
                <a:latin typeface="Segoe UI"/>
              </a:rPr>
              <a:t>   SIGNIFICANCE</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Why six out of six matters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8</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Rectangle 7"/>
          <p:cNvSpPr/>
          <p:nvPr/>
        </p:nvSpPr>
        <p:spPr>
          <a:xfrm>
            <a:off x="77724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3291840" cy="548640"/>
          </a:xfrm>
          <a:prstGeom prst="rect">
            <a:avLst/>
          </a:prstGeom>
          <a:noFill/>
        </p:spPr>
        <p:txBody>
          <a:bodyPr wrap="square" lIns="0" rIns="0" tIns="0" bIns="0">
            <a:spAutoFit/>
          </a:bodyPr>
          <a:lstStyle/>
          <a:p>
            <a:pPr algn="ctr">
              <a:lnSpc>
                <a:spcPct val="125000"/>
              </a:lnSpc>
              <a:spcAft>
                <a:spcPts val="600"/>
              </a:spcAft>
            </a:pPr>
            <a:r>
              <a:rPr sz="3000" b="1">
                <a:solidFill>
                  <a:srgbClr val="1B7837"/>
                </a:solidFill>
                <a:latin typeface="Segoe UI"/>
              </a:rPr>
              <a:t>6 / 6</a:t>
            </a:r>
          </a:p>
        </p:txBody>
      </p:sp>
      <p:sp>
        <p:nvSpPr>
          <p:cNvPr id="10" name="TextBox 9"/>
          <p:cNvSpPr txBox="1"/>
          <p:nvPr/>
        </p:nvSpPr>
        <p:spPr>
          <a:xfrm>
            <a:off x="77724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crises improved</a:t>
            </a:r>
          </a:p>
        </p:txBody>
      </p:sp>
      <p:sp>
        <p:nvSpPr>
          <p:cNvPr id="11" name="Rectangle 10"/>
          <p:cNvSpPr/>
          <p:nvPr/>
        </p:nvSpPr>
        <p:spPr>
          <a:xfrm>
            <a:off x="438912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103120"/>
            <a:ext cx="3291840" cy="548640"/>
          </a:xfrm>
          <a:prstGeom prst="rect">
            <a:avLst/>
          </a:prstGeom>
          <a:noFill/>
        </p:spPr>
        <p:txBody>
          <a:bodyPr wrap="square" lIns="0" rIns="0" tIns="0" bIns="0">
            <a:spAutoFit/>
          </a:bodyPr>
          <a:lstStyle/>
          <a:p>
            <a:pPr algn="ctr">
              <a:lnSpc>
                <a:spcPct val="125000"/>
              </a:lnSpc>
              <a:spcAft>
                <a:spcPts val="600"/>
              </a:spcAft>
            </a:pPr>
            <a:r>
              <a:rPr sz="3000" b="1">
                <a:solidFill>
                  <a:srgbClr val="1B7837"/>
                </a:solidFill>
                <a:latin typeface="Segoe UI"/>
              </a:rPr>
              <a:t>p = 0.031</a:t>
            </a:r>
          </a:p>
        </p:txBody>
      </p:sp>
      <p:sp>
        <p:nvSpPr>
          <p:cNvPr id="13" name="TextBox 12"/>
          <p:cNvSpPr txBox="1"/>
          <p:nvPr/>
        </p:nvSpPr>
        <p:spPr>
          <a:xfrm>
            <a:off x="438912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episode-level test</a:t>
            </a:r>
          </a:p>
        </p:txBody>
      </p:sp>
      <p:sp>
        <p:nvSpPr>
          <p:cNvPr id="14" name="Rectangle 13"/>
          <p:cNvSpPr/>
          <p:nvPr/>
        </p:nvSpPr>
        <p:spPr>
          <a:xfrm>
            <a:off x="8001000" y="1920240"/>
            <a:ext cx="3291840" cy="123444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01000" y="2103120"/>
            <a:ext cx="3291840" cy="548640"/>
          </a:xfrm>
          <a:prstGeom prst="rect">
            <a:avLst/>
          </a:prstGeom>
          <a:noFill/>
        </p:spPr>
        <p:txBody>
          <a:bodyPr wrap="square" lIns="0" rIns="0" tIns="0" bIns="0">
            <a:spAutoFit/>
          </a:bodyPr>
          <a:lstStyle/>
          <a:p>
            <a:pPr algn="ctr">
              <a:lnSpc>
                <a:spcPct val="125000"/>
              </a:lnSpc>
              <a:spcAft>
                <a:spcPts val="600"/>
              </a:spcAft>
            </a:pPr>
            <a:r>
              <a:rPr sz="2100" b="1">
                <a:solidFill>
                  <a:srgbClr val="1B7837"/>
                </a:solidFill>
                <a:latin typeface="Segoe UI"/>
              </a:rPr>
              <a:t>[+0.013, +0.060]</a:t>
            </a:r>
          </a:p>
        </p:txBody>
      </p:sp>
      <p:sp>
        <p:nvSpPr>
          <p:cNvPr id="16" name="TextBox 15"/>
          <p:cNvSpPr txBox="1"/>
          <p:nvPr/>
        </p:nvSpPr>
        <p:spPr>
          <a:xfrm>
            <a:off x="8001000" y="2706624"/>
            <a:ext cx="3291840" cy="365760"/>
          </a:xfrm>
          <a:prstGeom prst="rect">
            <a:avLst/>
          </a:prstGeom>
          <a:noFill/>
        </p:spPr>
        <p:txBody>
          <a:bodyPr wrap="square" lIns="0" rIns="0" tIns="0" bIns="0">
            <a:spAutoFit/>
          </a:bodyPr>
          <a:lstStyle/>
          <a:p>
            <a:pPr algn="ctr">
              <a:lnSpc>
                <a:spcPct val="125000"/>
              </a:lnSpc>
              <a:spcAft>
                <a:spcPts val="600"/>
              </a:spcAft>
            </a:pPr>
            <a:r>
              <a:rPr sz="1200" b="0">
                <a:solidFill>
                  <a:srgbClr val="5A6270"/>
                </a:solidFill>
                <a:latin typeface="Segoe UI"/>
              </a:rPr>
              <a:t>95% interval, excludes zero</a:t>
            </a:r>
          </a:p>
        </p:txBody>
      </p:sp>
      <p:sp>
        <p:nvSpPr>
          <p:cNvPr id="17" name="Oval 16"/>
          <p:cNvSpPr/>
          <p:nvPr/>
        </p:nvSpPr>
        <p:spPr>
          <a:xfrm>
            <a:off x="777240" y="37170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36118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With six episodes, six wins out of six is the strongest signal the test can give.  </a:t>
            </a:r>
            <a:r>
              <a:rPr sz="1700" b="0">
                <a:solidFill>
                  <a:srgbClr val="5A6270"/>
                </a:solidFill>
                <a:latin typeface="Segoe UI"/>
              </a:rPr>
              <a:t>It is the smallest p-value attainable at this sample size.</a:t>
            </a:r>
          </a:p>
        </p:txBody>
      </p:sp>
      <p:sp>
        <p:nvSpPr>
          <p:cNvPr id="19" name="Oval 18"/>
          <p:cNvSpPr/>
          <p:nvPr/>
        </p:nvSpPr>
        <p:spPr>
          <a:xfrm>
            <a:off x="777240" y="4521708"/>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9848" y="4416552"/>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My previous headline could not say this.  </a:t>
            </a:r>
            <a:r>
              <a:rPr sz="1700" b="0">
                <a:solidFill>
                  <a:srgbClr val="5A6270"/>
                </a:solidFill>
                <a:latin typeface="Segoe UI"/>
              </a:rPr>
              <a:t>Its confidence interval was [−0.007, +0.086] — it included zero, so no effect could be claimed.</a:t>
            </a:r>
          </a:p>
        </p:txBody>
      </p:sp>
      <p:sp>
        <p:nvSpPr>
          <p:cNvPr id="21" name="Oval 20"/>
          <p:cNvSpPr/>
          <p:nvPr/>
        </p:nvSpPr>
        <p:spPr>
          <a:xfrm>
            <a:off x="777240" y="532638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9848" y="5221224"/>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And this holds on the conservative test.  </a:t>
            </a:r>
            <a:r>
              <a:rPr sz="1700" b="0">
                <a:solidFill>
                  <a:srgbClr val="5A6270"/>
                </a:solidFill>
                <a:latin typeface="Segoe UI"/>
              </a:rPr>
              <a:t>Counting seeds instead of crises would have flattered it further, but that would be double-counting.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09</a:t>
            </a:r>
            <a:r>
              <a:rPr sz="1150" b="1">
                <a:solidFill>
                  <a:srgbClr val="1B7837"/>
                </a:solidFill>
                <a:latin typeface="Segoe UI"/>
              </a:rPr>
              <a:t>   A CORRECTION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I was crediting the wrong ingredient</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9</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TextBox 7"/>
          <p:cNvSpPr txBox="1"/>
          <p:nvPr/>
        </p:nvSpPr>
        <p:spPr>
          <a:xfrm>
            <a:off x="777240" y="1847088"/>
            <a:ext cx="10607040" cy="50292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The old recipe bundled the second head with a change of loss function. Tested separately, the loss function does nothing:</a:t>
            </a:r>
          </a:p>
        </p:txBody>
      </p:sp>
      <p:sp>
        <p:nvSpPr>
          <p:cNvPr id="9" name="Rectangle 8"/>
          <p:cNvSpPr/>
          <p:nvPr/>
        </p:nvSpPr>
        <p:spPr>
          <a:xfrm>
            <a:off x="777240" y="2560320"/>
            <a:ext cx="5029200" cy="1417320"/>
          </a:xfrm>
          <a:prstGeom prst="rect">
            <a:avLst/>
          </a:prstGeom>
          <a:solidFill>
            <a:srgbClr val="FC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761488"/>
            <a:ext cx="4297680" cy="411480"/>
          </a:xfrm>
          <a:prstGeom prst="rect">
            <a:avLst/>
          </a:prstGeom>
          <a:noFill/>
        </p:spPr>
        <p:txBody>
          <a:bodyPr wrap="square" lIns="0" rIns="0" tIns="0" bIns="0">
            <a:spAutoFit/>
          </a:bodyPr>
          <a:lstStyle/>
          <a:p>
            <a:pPr algn="l">
              <a:lnSpc>
                <a:spcPct val="125000"/>
              </a:lnSpc>
              <a:spcAft>
                <a:spcPts val="600"/>
              </a:spcAft>
            </a:pPr>
            <a:r>
              <a:rPr sz="1200" b="1">
                <a:solidFill>
                  <a:srgbClr val="D73027"/>
                </a:solidFill>
                <a:latin typeface="Segoe UI"/>
              </a:rPr>
              <a:t>THE LOSS FUNCTION ALONE</a:t>
            </a:r>
          </a:p>
        </p:txBody>
      </p:sp>
      <p:sp>
        <p:nvSpPr>
          <p:cNvPr id="11" name="TextBox 10"/>
          <p:cNvSpPr txBox="1"/>
          <p:nvPr/>
        </p:nvSpPr>
        <p:spPr>
          <a:xfrm>
            <a:off x="1143000" y="3127248"/>
            <a:ext cx="4297680" cy="640080"/>
          </a:xfrm>
          <a:prstGeom prst="rect">
            <a:avLst/>
          </a:prstGeom>
          <a:noFill/>
        </p:spPr>
        <p:txBody>
          <a:bodyPr wrap="square" lIns="0" rIns="0" tIns="0" bIns="0">
            <a:spAutoFit/>
          </a:bodyPr>
          <a:lstStyle/>
          <a:p>
            <a:pPr algn="l">
              <a:lnSpc>
                <a:spcPct val="125000"/>
              </a:lnSpc>
              <a:spcAft>
                <a:spcPts val="600"/>
              </a:spcAft>
            </a:pPr>
            <a:r>
              <a:rPr sz="2600" b="1">
                <a:solidFill>
                  <a:srgbClr val="D73027"/>
                </a:solidFill>
                <a:latin typeface="Segoe UI"/>
              </a:rPr>
              <a:t>−0.005</a:t>
            </a:r>
            <a:r>
              <a:rPr sz="1600" b="0">
                <a:solidFill>
                  <a:srgbClr val="5A6270"/>
                </a:solidFill>
                <a:latin typeface="Segoe UI"/>
              </a:rPr>
              <a:t>      p = 1.00</a:t>
            </a:r>
          </a:p>
        </p:txBody>
      </p:sp>
      <p:sp>
        <p:nvSpPr>
          <p:cNvPr id="12" name="Rectangle 11"/>
          <p:cNvSpPr/>
          <p:nvPr/>
        </p:nvSpPr>
        <p:spPr>
          <a:xfrm>
            <a:off x="6355080" y="2560320"/>
            <a:ext cx="5029200" cy="1417320"/>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2761488"/>
            <a:ext cx="4297680" cy="41148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THE SECOND HEAD ALONE</a:t>
            </a:r>
          </a:p>
        </p:txBody>
      </p:sp>
      <p:sp>
        <p:nvSpPr>
          <p:cNvPr id="14" name="TextBox 13"/>
          <p:cNvSpPr txBox="1"/>
          <p:nvPr/>
        </p:nvSpPr>
        <p:spPr>
          <a:xfrm>
            <a:off x="6720840" y="3127248"/>
            <a:ext cx="4297680" cy="640080"/>
          </a:xfrm>
          <a:prstGeom prst="rect">
            <a:avLst/>
          </a:prstGeom>
          <a:noFill/>
        </p:spPr>
        <p:txBody>
          <a:bodyPr wrap="square" lIns="0" rIns="0" tIns="0" bIns="0">
            <a:spAutoFit/>
          </a:bodyPr>
          <a:lstStyle/>
          <a:p>
            <a:pPr algn="l">
              <a:lnSpc>
                <a:spcPct val="125000"/>
              </a:lnSpc>
              <a:spcAft>
                <a:spcPts val="600"/>
              </a:spcAft>
            </a:pPr>
            <a:r>
              <a:rPr sz="2600" b="1">
                <a:solidFill>
                  <a:srgbClr val="1B7837"/>
                </a:solidFill>
                <a:latin typeface="Segoe UI"/>
              </a:rPr>
              <a:t>+0.034</a:t>
            </a:r>
            <a:r>
              <a:rPr sz="1600" b="0">
                <a:solidFill>
                  <a:srgbClr val="5A6270"/>
                </a:solidFill>
                <a:latin typeface="Segoe UI"/>
              </a:rPr>
              <a:t>      p = 0.031</a:t>
            </a:r>
          </a:p>
        </p:txBody>
      </p:sp>
      <p:sp>
        <p:nvSpPr>
          <p:cNvPr id="15" name="Oval 14"/>
          <p:cNvSpPr/>
          <p:nvPr/>
        </p:nvSpPr>
        <p:spPr>
          <a:xfrm>
            <a:off x="777240" y="440283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4297680"/>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loss change was noise.  </a:t>
            </a:r>
            <a:r>
              <a:rPr sz="1700" b="0">
                <a:solidFill>
                  <a:srgbClr val="5A6270"/>
                </a:solidFill>
                <a:latin typeface="Segoe UI"/>
              </a:rPr>
              <a:t>It looked promising in an early exploratory sweep and did not survive proper testing across six crises and thirty seeds.</a:t>
            </a:r>
          </a:p>
        </p:txBody>
      </p:sp>
      <p:sp>
        <p:nvSpPr>
          <p:cNvPr id="17" name="Oval 16"/>
          <p:cNvSpPr/>
          <p:nvPr/>
        </p:nvSpPr>
        <p:spPr>
          <a:xfrm>
            <a:off x="777240" y="5298948"/>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9848" y="5193792"/>
            <a:ext cx="10314432" cy="45720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contribution is simpler than I claimed.  </a:t>
            </a:r>
            <a:r>
              <a:rPr sz="1700" b="0">
                <a:solidFill>
                  <a:srgbClr val="5A6270"/>
                </a:solidFill>
                <a:latin typeface="Segoe UI"/>
              </a:rPr>
              <a:t>One idea, not two — and a cleaner story to defend.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10</a:t>
            </a:r>
            <a:r>
              <a:rPr sz="1150" b="1">
                <a:solidFill>
                  <a:srgbClr val="1B7837"/>
                </a:solidFill>
                <a:latin typeface="Segoe UI"/>
              </a:rPr>
              <a:t>   THE SWAP</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Could the regressor replace the classifier?</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10</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pic>
        <p:nvPicPr>
          <p:cNvPr id="8" name="Picture 7" descr="chart_cells.png"/>
          <p:cNvPicPr>
            <a:picLocks noChangeAspect="1"/>
          </p:cNvPicPr>
          <p:nvPr/>
        </p:nvPicPr>
        <p:blipFill>
          <a:blip r:embed="rId2"/>
          <a:stretch>
            <a:fillRect/>
          </a:stretch>
        </p:blipFill>
        <p:spPr>
          <a:xfrm>
            <a:off x="1749711" y="1783080"/>
            <a:ext cx="8692272" cy="3566160"/>
          </a:xfrm>
          <a:prstGeom prst="rect">
            <a:avLst/>
          </a:prstGeom>
        </p:spPr>
      </p:pic>
      <p:sp>
        <p:nvSpPr>
          <p:cNvPr id="9" name="TextBox 8"/>
          <p:cNvSpPr txBox="1"/>
          <p:nvPr/>
        </p:nvSpPr>
        <p:spPr>
          <a:xfrm>
            <a:off x="777240" y="5504688"/>
            <a:ext cx="10607040" cy="731520"/>
          </a:xfrm>
          <a:prstGeom prst="rect">
            <a:avLst/>
          </a:prstGeom>
          <a:noFill/>
        </p:spPr>
        <p:txBody>
          <a:bodyPr wrap="square" lIns="0" rIns="0" tIns="0" bIns="0">
            <a:spAutoFit/>
          </a:bodyPr>
          <a:lstStyle/>
          <a:p>
            <a:pPr algn="l">
              <a:lnSpc>
                <a:spcPct val="125000"/>
              </a:lnSpc>
              <a:spcAft>
                <a:spcPts val="600"/>
              </a:spcAft>
            </a:pPr>
            <a:r>
              <a:rPr sz="1800" b="1">
                <a:solidFill>
                  <a:srgbClr val="D73027"/>
                </a:solidFill>
                <a:latin typeface="Segoe UI"/>
              </a:rPr>
              <a:t>No. </a:t>
            </a:r>
            <a:r>
              <a:rPr sz="1700" b="0">
                <a:solidFill>
                  <a:srgbClr val="5A6270"/>
                </a:solidFill>
                <a:latin typeface="Segoe UI"/>
              </a:rPr>
              <a:t>Alone, the drawdown head barely beats random guessing. Scoring it backwards gives 0.42 — still worse than every model that keeps a classifier, and the better direction is not even consistent across crises.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11</a:t>
            </a:r>
            <a:r>
              <a:rPr sz="1150" b="1">
                <a:solidFill>
                  <a:srgbClr val="1B7837"/>
                </a:solidFill>
                <a:latin typeface="Segoe UI"/>
              </a:rPr>
              <a:t>   WHY IT WORKS</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The two heads fail in opposite places</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11</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pic>
        <p:nvPicPr>
          <p:cNvPr id="8" name="Picture 7" descr="chart_mechanism.png"/>
          <p:cNvPicPr>
            <a:picLocks noChangeAspect="1"/>
          </p:cNvPicPr>
          <p:nvPr/>
        </p:nvPicPr>
        <p:blipFill>
          <a:blip r:embed="rId2"/>
          <a:stretch>
            <a:fillRect/>
          </a:stretch>
        </p:blipFill>
        <p:spPr>
          <a:xfrm>
            <a:off x="1846806" y="1783080"/>
            <a:ext cx="8498083" cy="3566160"/>
          </a:xfrm>
          <a:prstGeom prst="rect">
            <a:avLst/>
          </a:prstGeom>
        </p:spPr>
      </p:pic>
      <p:sp>
        <p:nvSpPr>
          <p:cNvPr id="9" name="TextBox 8"/>
          <p:cNvSpPr txBox="1"/>
          <p:nvPr/>
        </p:nvSpPr>
        <p:spPr>
          <a:xfrm>
            <a:off x="777240" y="5504688"/>
            <a:ext cx="10607040" cy="731520"/>
          </a:xfrm>
          <a:prstGeom prst="rect">
            <a:avLst/>
          </a:prstGeom>
          <a:noFill/>
        </p:spPr>
        <p:txBody>
          <a:bodyPr wrap="square" lIns="0" rIns="0" tIns="0" bIns="0">
            <a:spAutoFit/>
          </a:bodyPr>
          <a:lstStyle/>
          <a:p>
            <a:pPr algn="l">
              <a:lnSpc>
                <a:spcPct val="125000"/>
              </a:lnSpc>
              <a:spcAft>
                <a:spcPts val="600"/>
              </a:spcAft>
            </a:pPr>
            <a:r>
              <a:rPr sz="1700" b="1">
                <a:solidFill>
                  <a:srgbClr val="14181F"/>
                </a:solidFill>
                <a:latin typeface="Segoe UI"/>
              </a:rPr>
              <a:t>The regressor wins exactly where the classifier drops below random guessing. </a:t>
            </a:r>
            <a:r>
              <a:rPr sz="1700" b="0">
                <a:solidFill>
                  <a:srgbClr val="5A6270"/>
                </a:solidFill>
                <a:latin typeface="Segoe UI"/>
              </a:rPr>
              <a:t>In the GFC window the crisis label has no positive examples at all — but the drawdown target still does.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20624"/>
            <a:ext cx="10607040" cy="274320"/>
          </a:xfrm>
          <a:prstGeom prst="rect">
            <a:avLst/>
          </a:prstGeom>
          <a:noFill/>
        </p:spPr>
        <p:txBody>
          <a:bodyPr wrap="square" lIns="0" rIns="0" tIns="0" bIns="0">
            <a:spAutoFit/>
          </a:bodyPr>
          <a:lstStyle/>
          <a:p>
            <a:pPr algn="l">
              <a:lnSpc>
                <a:spcPct val="125000"/>
              </a:lnSpc>
              <a:spcAft>
                <a:spcPts val="600"/>
              </a:spcAft>
            </a:pPr>
            <a:r>
              <a:rPr sz="1150" b="1">
                <a:solidFill>
                  <a:srgbClr val="1B7837"/>
                </a:solidFill>
                <a:latin typeface="Segoe UI"/>
              </a:rPr>
              <a:t>12</a:t>
            </a:r>
            <a:r>
              <a:rPr sz="1150" b="1">
                <a:solidFill>
                  <a:srgbClr val="1B7837"/>
                </a:solidFill>
                <a:latin typeface="Segoe UI"/>
              </a:rPr>
              <a:t>   CONCLUSION</a:t>
            </a:r>
          </a:p>
        </p:txBody>
      </p:sp>
      <p:sp>
        <p:nvSpPr>
          <p:cNvPr id="3" name="TextBox 2"/>
          <p:cNvSpPr txBox="1"/>
          <p:nvPr/>
        </p:nvSpPr>
        <p:spPr>
          <a:xfrm>
            <a:off x="777240" y="749808"/>
            <a:ext cx="10607040" cy="822960"/>
          </a:xfrm>
          <a:prstGeom prst="rect">
            <a:avLst/>
          </a:prstGeom>
          <a:noFill/>
        </p:spPr>
        <p:txBody>
          <a:bodyPr wrap="square" lIns="0" rIns="0" tIns="0" bIns="0">
            <a:spAutoFit/>
          </a:bodyPr>
          <a:lstStyle/>
          <a:p>
            <a:pPr algn="l">
              <a:lnSpc>
                <a:spcPct val="125000"/>
              </a:lnSpc>
              <a:spcAft>
                <a:spcPts val="600"/>
              </a:spcAft>
            </a:pPr>
            <a:r>
              <a:rPr sz="3000" b="1">
                <a:solidFill>
                  <a:srgbClr val="14181F"/>
                </a:solidFill>
                <a:latin typeface="Segoe UI"/>
              </a:rPr>
              <a:t>What I can and cannot claim</a:t>
            </a:r>
          </a:p>
        </p:txBody>
      </p:sp>
      <p:sp>
        <p:nvSpPr>
          <p:cNvPr id="4" name="Rectangle 3"/>
          <p:cNvSpPr/>
          <p:nvPr/>
        </p:nvSpPr>
        <p:spPr>
          <a:xfrm>
            <a:off x="777240" y="1481328"/>
            <a:ext cx="566928" cy="40640"/>
          </a:xfrm>
          <a:prstGeom prst="rect">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6327648"/>
            <a:ext cx="10607040" cy="11430"/>
          </a:xfrm>
          <a:prstGeom prst="rect">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419088"/>
            <a:ext cx="502920" cy="274320"/>
          </a:xfrm>
          <a:prstGeom prst="rect">
            <a:avLst/>
          </a:prstGeom>
          <a:noFill/>
        </p:spPr>
        <p:txBody>
          <a:bodyPr wrap="square" lIns="0" rIns="0" tIns="0" bIns="0">
            <a:spAutoFit/>
          </a:bodyPr>
          <a:lstStyle/>
          <a:p>
            <a:pPr algn="r">
              <a:lnSpc>
                <a:spcPct val="125000"/>
              </a:lnSpc>
              <a:spcAft>
                <a:spcPts val="600"/>
              </a:spcAft>
            </a:pPr>
            <a:r>
              <a:rPr sz="1050" b="0">
                <a:solidFill>
                  <a:srgbClr val="5A6270"/>
                </a:solidFill>
                <a:latin typeface="Segoe UI"/>
              </a:rPr>
              <a:t>12</a:t>
            </a:r>
          </a:p>
        </p:txBody>
      </p:sp>
      <p:sp>
        <p:nvSpPr>
          <p:cNvPr id="7" name="TextBox 6"/>
          <p:cNvSpPr txBox="1"/>
          <p:nvPr/>
        </p:nvSpPr>
        <p:spPr>
          <a:xfrm>
            <a:off x="777240" y="6419088"/>
            <a:ext cx="6400800" cy="274320"/>
          </a:xfrm>
          <a:prstGeom prst="rect">
            <a:avLst/>
          </a:prstGeom>
          <a:noFill/>
        </p:spPr>
        <p:txBody>
          <a:bodyPr wrap="square" lIns="0" rIns="0" tIns="0" bIns="0">
            <a:spAutoFit/>
          </a:bodyPr>
          <a:lstStyle/>
          <a:p>
            <a:pPr algn="l">
              <a:lnSpc>
                <a:spcPct val="125000"/>
              </a:lnSpc>
              <a:spcAft>
                <a:spcPts val="600"/>
              </a:spcAft>
            </a:pPr>
            <a:r>
              <a:rPr sz="1050" b="0">
                <a:solidFill>
                  <a:srgbClr val="9AA1AC"/>
                </a:solidFill>
                <a:latin typeface="Segoe UI"/>
              </a:rPr>
              <a:t>Dense Drawdown Supervision for Equity Crisis Early Warning</a:t>
            </a:r>
          </a:p>
        </p:txBody>
      </p:sp>
      <p:sp>
        <p:nvSpPr>
          <p:cNvPr id="8" name="TextBox 7"/>
          <p:cNvSpPr txBox="1"/>
          <p:nvPr/>
        </p:nvSpPr>
        <p:spPr>
          <a:xfrm>
            <a:off x="777240" y="1847088"/>
            <a:ext cx="5029200" cy="365760"/>
          </a:xfrm>
          <a:prstGeom prst="rect">
            <a:avLst/>
          </a:prstGeom>
          <a:noFill/>
        </p:spPr>
        <p:txBody>
          <a:bodyPr wrap="square" lIns="0" rIns="0" tIns="0" bIns="0">
            <a:spAutoFit/>
          </a:bodyPr>
          <a:lstStyle/>
          <a:p>
            <a:pPr algn="l">
              <a:lnSpc>
                <a:spcPct val="125000"/>
              </a:lnSpc>
              <a:spcAft>
                <a:spcPts val="600"/>
              </a:spcAft>
            </a:pPr>
            <a:r>
              <a:rPr sz="1200" b="1">
                <a:solidFill>
                  <a:srgbClr val="1B7837"/>
                </a:solidFill>
                <a:latin typeface="Segoe UI"/>
              </a:rPr>
              <a:t>SUPPORTED BY THE EVIDENCE</a:t>
            </a:r>
          </a:p>
        </p:txBody>
      </p:sp>
      <p:sp>
        <p:nvSpPr>
          <p:cNvPr id="9" name="Oval 8"/>
          <p:cNvSpPr/>
          <p:nvPr/>
        </p:nvSpPr>
        <p:spPr>
          <a:xfrm>
            <a:off x="777240" y="239115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2286000"/>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Adding a dense drawdown head improves crisis prediction in all six crises (p = 0.031), and improves probability calibration in all six as well.</a:t>
            </a:r>
          </a:p>
        </p:txBody>
      </p:sp>
      <p:sp>
        <p:nvSpPr>
          <p:cNvPr id="11" name="Oval 10"/>
          <p:cNvSpPr/>
          <p:nvPr/>
        </p:nvSpPr>
        <p:spPr>
          <a:xfrm>
            <a:off x="777240" y="3781044"/>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3675888"/>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It works by supplying training signal where crisis labels are too rare to learn from.</a:t>
            </a:r>
          </a:p>
        </p:txBody>
      </p:sp>
      <p:sp>
        <p:nvSpPr>
          <p:cNvPr id="13" name="TextBox 12"/>
          <p:cNvSpPr txBox="1"/>
          <p:nvPr/>
        </p:nvSpPr>
        <p:spPr>
          <a:xfrm>
            <a:off x="6355080" y="1847088"/>
            <a:ext cx="5029200" cy="365760"/>
          </a:xfrm>
          <a:prstGeom prst="rect">
            <a:avLst/>
          </a:prstGeom>
          <a:noFill/>
        </p:spPr>
        <p:txBody>
          <a:bodyPr wrap="square" lIns="0" rIns="0" tIns="0" bIns="0">
            <a:spAutoFit/>
          </a:bodyPr>
          <a:lstStyle/>
          <a:p>
            <a:pPr algn="l">
              <a:lnSpc>
                <a:spcPct val="125000"/>
              </a:lnSpc>
              <a:spcAft>
                <a:spcPts val="600"/>
              </a:spcAft>
            </a:pPr>
            <a:r>
              <a:rPr sz="1200" b="1">
                <a:solidFill>
                  <a:srgbClr val="D73027"/>
                </a:solidFill>
                <a:latin typeface="Segoe UI"/>
              </a:rPr>
              <a:t>STATED AS LIMITATIONS</a:t>
            </a:r>
          </a:p>
        </p:txBody>
      </p:sp>
      <p:sp>
        <p:nvSpPr>
          <p:cNvPr id="14" name="Oval 13"/>
          <p:cNvSpPr/>
          <p:nvPr/>
        </p:nvSpPr>
        <p:spPr>
          <a:xfrm>
            <a:off x="6355080" y="2391156"/>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47688" y="2286000"/>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Six crises is a small sample. More seeds cannot fix that — only more crises could.</a:t>
            </a:r>
          </a:p>
        </p:txBody>
      </p:sp>
      <p:sp>
        <p:nvSpPr>
          <p:cNvPr id="16" name="Oval 15"/>
          <p:cNvSpPr/>
          <p:nvPr/>
        </p:nvSpPr>
        <p:spPr>
          <a:xfrm>
            <a:off x="6355080" y="3177540"/>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47688" y="3072384"/>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Two of the six folds have no positive training labels, which weakens them as tests.</a:t>
            </a:r>
          </a:p>
        </p:txBody>
      </p:sp>
      <p:sp>
        <p:nvSpPr>
          <p:cNvPr id="18" name="Oval 17"/>
          <p:cNvSpPr/>
          <p:nvPr/>
        </p:nvSpPr>
        <p:spPr>
          <a:xfrm>
            <a:off x="6355080" y="3963924"/>
            <a:ext cx="68580" cy="68580"/>
          </a:xfrm>
          <a:prstGeom prst="ellipse">
            <a:avLst/>
          </a:prstGeom>
          <a:solidFill>
            <a:srgbClr val="1B78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47688" y="3858768"/>
            <a:ext cx="4828032" cy="457200"/>
          </a:xfrm>
          <a:prstGeom prst="rect">
            <a:avLst/>
          </a:prstGeom>
          <a:noFill/>
        </p:spPr>
        <p:txBody>
          <a:bodyPr wrap="square" lIns="0" rIns="0" tIns="0" bIns="0">
            <a:spAutoFit/>
          </a:bodyPr>
          <a:lstStyle/>
          <a:p>
            <a:pPr algn="l">
              <a:lnSpc>
                <a:spcPct val="125000"/>
              </a:lnSpc>
              <a:spcAft>
                <a:spcPts val="600"/>
              </a:spcAft>
            </a:pPr>
            <a:r>
              <a:rPr sz="1700" b="0">
                <a:solidFill>
                  <a:srgbClr val="5A6270"/>
                </a:solidFill>
                <a:latin typeface="Segoe UI"/>
              </a:rPr>
              <a:t>The gain is modest, and concentrated in severe, volatile episodes.</a:t>
            </a:r>
          </a:p>
        </p:txBody>
      </p:sp>
      <p:sp>
        <p:nvSpPr>
          <p:cNvPr id="20" name="Rectangle 19"/>
          <p:cNvSpPr/>
          <p:nvPr/>
        </p:nvSpPr>
        <p:spPr>
          <a:xfrm>
            <a:off x="777240" y="5349240"/>
            <a:ext cx="10607040" cy="841248"/>
          </a:xfrm>
          <a:prstGeom prst="rect">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5559552"/>
            <a:ext cx="9784080" cy="457200"/>
          </a:xfrm>
          <a:prstGeom prst="rect">
            <a:avLst/>
          </a:prstGeom>
          <a:noFill/>
        </p:spPr>
        <p:txBody>
          <a:bodyPr wrap="square" lIns="0" rIns="0" tIns="0" bIns="0">
            <a:spAutoFit/>
          </a:bodyPr>
          <a:lstStyle/>
          <a:p>
            <a:pPr algn="l">
              <a:lnSpc>
                <a:spcPct val="125000"/>
              </a:lnSpc>
              <a:spcAft>
                <a:spcPts val="600"/>
              </a:spcAft>
            </a:pPr>
            <a:r>
              <a:rPr sz="1800" b="1">
                <a:solidFill>
                  <a:srgbClr val="14181F"/>
                </a:solidFill>
                <a:latin typeface="Segoe UI"/>
              </a:rPr>
              <a:t>When crisis labels are scarce, supervise the model with something that is not scarce.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